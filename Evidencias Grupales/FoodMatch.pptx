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Montserrat Black"/>
      <p:bold r:id="rId13"/>
      <p:boldItalic r:id="rId14"/>
    </p:embeddedFont>
    <p:embeddedFont>
      <p:font typeface="Montserrat"/>
      <p:bold r:id="rId15"/>
      <p:boldItalic r:id="rId16"/>
    </p:embeddedFont>
    <p:embeddedFont>
      <p:font typeface="Antoni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CUF/8pWFNZ+hR1dWZFsesHh7x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Black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Black-boldItalic.fntdata"/><Relationship Id="rId17" Type="http://schemas.openxmlformats.org/officeDocument/2006/relationships/font" Target="fonts/Antoni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ntoni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canva.link/tp4u2id4dcakjci" TargetMode="External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52FF"/>
            </a:gs>
            <a:gs pos="50000">
              <a:srgbClr val="00BF63"/>
            </a:gs>
            <a:gs pos="100000">
              <a:srgbClr val="F69019"/>
            </a:gs>
          </a:gsLst>
          <a:lin ang="54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28575"/>
            <a:ext cx="10477500" cy="10315575"/>
            <a:chOff x="0" y="-38100"/>
            <a:chExt cx="13970000" cy="137541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3970000" cy="13716000"/>
            </a:xfrm>
            <a:custGeom>
              <a:rect b="b" l="l" r="r" t="t"/>
              <a:pathLst>
                <a:path extrusionOk="0" h="13716000" w="13970000">
                  <a:moveTo>
                    <a:pt x="0" y="0"/>
                  </a:moveTo>
                  <a:lnTo>
                    <a:pt x="13970000" y="0"/>
                  </a:lnTo>
                  <a:lnTo>
                    <a:pt x="1397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13970000" cy="137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10800000">
            <a:off x="12382500" y="0"/>
            <a:ext cx="5905500" cy="4791075"/>
            <a:chOff x="0" y="-38100"/>
            <a:chExt cx="7874000" cy="63881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7874000" cy="6350000"/>
            </a:xfrm>
            <a:custGeom>
              <a:rect b="b" l="l" r="r" t="t"/>
              <a:pathLst>
                <a:path extrusionOk="0" h="6350000" w="7874000">
                  <a:moveTo>
                    <a:pt x="3937000" y="0"/>
                  </a:moveTo>
                  <a:lnTo>
                    <a:pt x="7874000" y="6350000"/>
                  </a:lnTo>
                  <a:lnTo>
                    <a:pt x="0" y="6350000"/>
                  </a:lnTo>
                  <a:lnTo>
                    <a:pt x="3937000" y="0"/>
                  </a:ln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7874000" cy="638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14287500" y="6638925"/>
            <a:ext cx="2857500" cy="2886075"/>
            <a:chOff x="0" y="-38100"/>
            <a:chExt cx="3810000" cy="38481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3810000" cy="3810000"/>
            </a:xfrm>
            <a:custGeom>
              <a:rect b="b" l="l" r="r" t="t"/>
              <a:pathLst>
                <a:path extrusionOk="0" h="3810000" w="3810000">
                  <a:moveTo>
                    <a:pt x="1905000" y="0"/>
                  </a:moveTo>
                  <a:lnTo>
                    <a:pt x="3810000" y="1905000"/>
                  </a:lnTo>
                  <a:lnTo>
                    <a:pt x="1905000" y="3810000"/>
                  </a:lnTo>
                  <a:lnTo>
                    <a:pt x="0" y="1905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E8723A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9048750" y="1400175"/>
            <a:ext cx="1143000" cy="1171575"/>
            <a:chOff x="0" y="-38100"/>
            <a:chExt cx="1524000" cy="15621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524000" cy="1524000"/>
            </a:xfrm>
            <a:custGeom>
              <a:rect b="b" l="l" r="r" t="t"/>
              <a:pathLst>
                <a:path extrusionOk="0"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7B61FF">
                <a:alpha val="6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10001250" y="7591425"/>
            <a:ext cx="762000" cy="790575"/>
            <a:chOff x="0" y="-38100"/>
            <a:chExt cx="1016000" cy="1054100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016000" cy="1016000"/>
            </a:xfrm>
            <a:custGeom>
              <a:rect b="b" l="l" r="r" t="t"/>
              <a:pathLst>
                <a:path extrusionOk="0"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E8723A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9" name="Google Shape;99;p1"/>
          <p:cNvCxnSpPr/>
          <p:nvPr/>
        </p:nvCxnSpPr>
        <p:spPr>
          <a:xfrm>
            <a:off x="952500" y="4838700"/>
            <a:ext cx="2381250" cy="0"/>
          </a:xfrm>
          <a:prstGeom prst="straightConnector1">
            <a:avLst/>
          </a:prstGeom>
          <a:noFill/>
          <a:ln cap="flat" cmpd="sng" w="38100">
            <a:solidFill>
              <a:srgbClr val="E872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"/>
          <p:cNvSpPr txBox="1"/>
          <p:nvPr/>
        </p:nvSpPr>
        <p:spPr>
          <a:xfrm>
            <a:off x="952500" y="9477375"/>
            <a:ext cx="5715000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Capstone — Propuesta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11430000" y="2762250"/>
            <a:ext cx="4762500" cy="4762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"/>
          <p:cNvGrpSpPr/>
          <p:nvPr/>
        </p:nvGrpSpPr>
        <p:grpSpPr>
          <a:xfrm>
            <a:off x="2201399" y="518199"/>
            <a:ext cx="1143000" cy="1171575"/>
            <a:chOff x="0" y="-38100"/>
            <a:chExt cx="1524000" cy="1562100"/>
          </a:xfrm>
        </p:grpSpPr>
        <p:sp>
          <p:nvSpPr>
            <p:cNvPr id="103" name="Google Shape;103;p1">
              <a:hlinkClick r:id="rId4"/>
            </p:cNvPr>
            <p:cNvSpPr/>
            <p:nvPr/>
          </p:nvSpPr>
          <p:spPr>
            <a:xfrm>
              <a:off x="0" y="0"/>
              <a:ext cx="1524000" cy="1524000"/>
            </a:xfrm>
            <a:custGeom>
              <a:rect b="b" l="l" r="r" t="t"/>
              <a:pathLst>
                <a:path extrusionOk="0" h="1524000" w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7B61FF">
                <a:alpha val="6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rm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6327875" y="1665094"/>
            <a:ext cx="762000" cy="790575"/>
            <a:chOff x="0" y="-38100"/>
            <a:chExt cx="1016000" cy="1054100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1016000" cy="1016000"/>
            </a:xfrm>
            <a:custGeom>
              <a:rect b="b" l="l" r="r" t="t"/>
              <a:pathLst>
                <a:path extrusionOk="0"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E8723A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 txBox="1"/>
          <p:nvPr/>
        </p:nvSpPr>
        <p:spPr>
          <a:xfrm>
            <a:off x="952500" y="3547110"/>
            <a:ext cx="8572500" cy="129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FoodMatch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952500" y="4848225"/>
            <a:ext cx="7620000" cy="927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Encuentra qué comer según tus gustos,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 ubicación y tu presupuesto.</a:t>
            </a:r>
            <a:endParaRPr/>
          </a:p>
        </p:txBody>
      </p:sp>
      <p:grpSp>
        <p:nvGrpSpPr>
          <p:cNvPr id="110" name="Google Shape;110;p1"/>
          <p:cNvGrpSpPr/>
          <p:nvPr/>
        </p:nvGrpSpPr>
        <p:grpSpPr>
          <a:xfrm>
            <a:off x="4798778" y="6921903"/>
            <a:ext cx="4582194" cy="3717490"/>
            <a:chOff x="0" y="-38100"/>
            <a:chExt cx="7874000" cy="63881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7874000" cy="6350000"/>
            </a:xfrm>
            <a:custGeom>
              <a:rect b="b" l="l" r="r" t="t"/>
              <a:pathLst>
                <a:path extrusionOk="0" h="6350000" w="7874000">
                  <a:moveTo>
                    <a:pt x="3937000" y="0"/>
                  </a:moveTo>
                  <a:lnTo>
                    <a:pt x="7874000" y="6350000"/>
                  </a:lnTo>
                  <a:lnTo>
                    <a:pt x="0" y="6350000"/>
                  </a:lnTo>
                  <a:lnTo>
                    <a:pt x="3937000" y="0"/>
                  </a:ln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112" name="Google Shape;112;p1"/>
            <p:cNvSpPr txBox="1"/>
            <p:nvPr/>
          </p:nvSpPr>
          <p:spPr>
            <a:xfrm>
              <a:off x="0" y="-38100"/>
              <a:ext cx="7874000" cy="638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"/>
          <p:cNvSpPr/>
          <p:nvPr/>
        </p:nvSpPr>
        <p:spPr>
          <a:xfrm>
            <a:off x="6882800" y="4674560"/>
            <a:ext cx="3600598" cy="360059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5188" r="-2518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1"/>
          <p:cNvGrpSpPr/>
          <p:nvPr/>
        </p:nvGrpSpPr>
        <p:grpSpPr>
          <a:xfrm>
            <a:off x="426229" y="7431150"/>
            <a:ext cx="1929395" cy="1948689"/>
            <a:chOff x="0" y="-38100"/>
            <a:chExt cx="3810000" cy="3848100"/>
          </a:xfrm>
        </p:grpSpPr>
        <p:sp>
          <p:nvSpPr>
            <p:cNvPr id="115" name="Google Shape;115;p1"/>
            <p:cNvSpPr/>
            <p:nvPr/>
          </p:nvSpPr>
          <p:spPr>
            <a:xfrm>
              <a:off x="0" y="0"/>
              <a:ext cx="3810000" cy="3810000"/>
            </a:xfrm>
            <a:custGeom>
              <a:rect b="b" l="l" r="r" t="t"/>
              <a:pathLst>
                <a:path extrusionOk="0" h="3810000" w="3810000">
                  <a:moveTo>
                    <a:pt x="1905000" y="0"/>
                  </a:moveTo>
                  <a:lnTo>
                    <a:pt x="3810000" y="1905000"/>
                  </a:lnTo>
                  <a:lnTo>
                    <a:pt x="1905000" y="3810000"/>
                  </a:lnTo>
                  <a:lnTo>
                    <a:pt x="0" y="1905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E8723A"/>
            </a:solidFill>
            <a:ln>
              <a:noFill/>
            </a:ln>
          </p:spPr>
        </p:sp>
        <p:sp>
          <p:nvSpPr>
            <p:cNvPr id="116" name="Google Shape;116;p1"/>
            <p:cNvSpPr txBox="1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"/>
          <p:cNvGrpSpPr/>
          <p:nvPr/>
        </p:nvGrpSpPr>
        <p:grpSpPr>
          <a:xfrm>
            <a:off x="0" y="-28575"/>
            <a:ext cx="6667500" cy="10315575"/>
            <a:chOff x="0" y="-38100"/>
            <a:chExt cx="8890000" cy="13754100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8890000" cy="13716000"/>
            </a:xfrm>
            <a:custGeom>
              <a:rect b="b" l="l" r="r" t="t"/>
              <a:pathLst>
                <a:path extrusionOk="0" h="13716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>
              <a:gsLst>
                <a:gs pos="0">
                  <a:srgbClr val="CC0BEB"/>
                </a:gs>
                <a:gs pos="50000">
                  <a:srgbClr val="5DC45A"/>
                </a:gs>
                <a:gs pos="100000">
                  <a:srgbClr val="FF6300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-38100"/>
              <a:ext cx="8890000" cy="137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 rot="899989">
            <a:off x="16013505" y="-1250794"/>
            <a:ext cx="3809764" cy="2885896"/>
            <a:chOff x="0" y="-38100"/>
            <a:chExt cx="5080000" cy="38481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80000" cy="3810000"/>
            </a:xfrm>
            <a:custGeom>
              <a:rect b="b" l="l" r="r" t="t"/>
              <a:pathLst>
                <a:path extrusionOk="0" h="3810000" w="5080000">
                  <a:moveTo>
                    <a:pt x="2540000" y="0"/>
                  </a:moveTo>
                  <a:lnTo>
                    <a:pt x="5080000" y="3810000"/>
                  </a:lnTo>
                  <a:lnTo>
                    <a:pt x="0" y="3810000"/>
                  </a:lnTo>
                  <a:lnTo>
                    <a:pt x="2540000" y="0"/>
                  </a:lnTo>
                  <a:close/>
                </a:path>
              </a:pathLst>
            </a:custGeom>
            <a:gradFill>
              <a:gsLst>
                <a:gs pos="0">
                  <a:srgbClr val="8114B0"/>
                </a:gs>
                <a:gs pos="15000">
                  <a:srgbClr val="8114B0"/>
                </a:gs>
                <a:gs pos="50000">
                  <a:srgbClr val="FF4291"/>
                </a:gs>
                <a:gs pos="85000">
                  <a:srgbClr val="F7FF3C"/>
                </a:gs>
                <a:gs pos="100000">
                  <a:srgbClr val="F7FF3C"/>
                </a:gs>
              </a:gsLst>
              <a:lin ang="18900000" scaled="0"/>
            </a:gra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38100"/>
              <a:ext cx="50800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6927975" y="8021025"/>
            <a:ext cx="1905000" cy="1933575"/>
            <a:chOff x="0" y="-38100"/>
            <a:chExt cx="2540000" cy="25781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2540000" cy="2540000"/>
            </a:xfrm>
            <a:custGeom>
              <a:rect b="b" l="l" r="r" t="t"/>
              <a:pathLst>
                <a:path extrusionOk="0" h="2540000" w="2540000">
                  <a:moveTo>
                    <a:pt x="1270000" y="0"/>
                  </a:moveTo>
                  <a:lnTo>
                    <a:pt x="2540000" y="1270000"/>
                  </a:lnTo>
                  <a:lnTo>
                    <a:pt x="1270000" y="2540000"/>
                  </a:lnTo>
                  <a:lnTo>
                    <a:pt x="0" y="1270000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E8723A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6814710" y="626365"/>
            <a:ext cx="762000" cy="790575"/>
            <a:chOff x="0" y="-38100"/>
            <a:chExt cx="1016000" cy="1054100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016000" cy="1016000"/>
            </a:xfrm>
            <a:custGeom>
              <a:rect b="b" l="l" r="r" t="t"/>
              <a:pathLst>
                <a:path extrusionOk="0"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7B61FF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6668750" y="4733925"/>
            <a:ext cx="571500" cy="600075"/>
            <a:chOff x="0" y="-38100"/>
            <a:chExt cx="762000" cy="80010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E8723A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2"/>
          <p:cNvSpPr txBox="1"/>
          <p:nvPr/>
        </p:nvSpPr>
        <p:spPr>
          <a:xfrm>
            <a:off x="762000" y="1190625"/>
            <a:ext cx="190500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1F1918"/>
                </a:solidFill>
                <a:latin typeface="Antonio"/>
                <a:ea typeface="Antonio"/>
                <a:cs typeface="Antonio"/>
                <a:sym typeface="Antonio"/>
              </a:rPr>
              <a:t>01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762000" y="3400425"/>
            <a:ext cx="5238750" cy="178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¿Qué es</a:t>
            </a:r>
            <a:endParaRPr/>
          </a:p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FoodMatch?</a:t>
            </a:r>
            <a:endParaRPr/>
          </a:p>
        </p:txBody>
      </p:sp>
      <p:cxnSp>
        <p:nvCxnSpPr>
          <p:cNvPr id="138" name="Google Shape;138;p2"/>
          <p:cNvCxnSpPr/>
          <p:nvPr/>
        </p:nvCxnSpPr>
        <p:spPr>
          <a:xfrm>
            <a:off x="762000" y="5381625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E872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2"/>
          <p:cNvSpPr txBox="1"/>
          <p:nvPr/>
        </p:nvSpPr>
        <p:spPr>
          <a:xfrm>
            <a:off x="762000" y="5600700"/>
            <a:ext cx="5238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pregunta que resolvemos: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762000" y="6096000"/>
            <a:ext cx="5238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rPr>
              <a:t>"¿Qué puedo comer, dónde puedo encontrarlo y me alcanza con el presupuesto que tengo?"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7576700" y="2818050"/>
            <a:ext cx="90489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FoodMatch es una aplicación que te ayuda a decidir qué comer, dónde encontrarlo y si te alcanza con tu presupuesto.</a:t>
            </a:r>
            <a:endParaRPr/>
          </a:p>
        </p:txBody>
      </p:sp>
      <p:grpSp>
        <p:nvGrpSpPr>
          <p:cNvPr id="142" name="Google Shape;142;p2"/>
          <p:cNvGrpSpPr/>
          <p:nvPr/>
        </p:nvGrpSpPr>
        <p:grpSpPr>
          <a:xfrm>
            <a:off x="7620000" y="4092450"/>
            <a:ext cx="2762250" cy="3076575"/>
            <a:chOff x="0" y="-38100"/>
            <a:chExt cx="3683000" cy="4102100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3683000" cy="4064000"/>
            </a:xfrm>
            <a:custGeom>
              <a:rect b="b" l="l" r="r" t="t"/>
              <a:pathLst>
                <a:path extrusionOk="0" h="4064000" w="3683000">
                  <a:moveTo>
                    <a:pt x="368300" y="0"/>
                  </a:moveTo>
                  <a:lnTo>
                    <a:pt x="3314700" y="0"/>
                  </a:lnTo>
                  <a:cubicBezTo>
                    <a:pt x="3518107" y="0"/>
                    <a:pt x="3683000" y="164894"/>
                    <a:pt x="3683000" y="368300"/>
                  </a:cubicBezTo>
                  <a:lnTo>
                    <a:pt x="3683000" y="3695700"/>
                  </a:lnTo>
                  <a:cubicBezTo>
                    <a:pt x="3683000" y="3899107"/>
                    <a:pt x="3518107" y="4064000"/>
                    <a:pt x="3314700" y="4064000"/>
                  </a:cubicBezTo>
                  <a:lnTo>
                    <a:pt x="368300" y="4064000"/>
                  </a:lnTo>
                  <a:cubicBezTo>
                    <a:pt x="164894" y="4064000"/>
                    <a:pt x="0" y="3899107"/>
                    <a:pt x="0" y="3695700"/>
                  </a:cubicBezTo>
                  <a:lnTo>
                    <a:pt x="0" y="368300"/>
                  </a:lnTo>
                  <a:cubicBezTo>
                    <a:pt x="0" y="164894"/>
                    <a:pt x="164894" y="0"/>
                    <a:pt x="3683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0" y="-38100"/>
              <a:ext cx="3683000" cy="410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2"/>
          <p:cNvGrpSpPr/>
          <p:nvPr/>
        </p:nvGrpSpPr>
        <p:grpSpPr>
          <a:xfrm>
            <a:off x="7620000" y="4092450"/>
            <a:ext cx="2762250" cy="85725"/>
            <a:chOff x="0" y="-38100"/>
            <a:chExt cx="3683000" cy="114300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3683000" cy="76200"/>
            </a:xfrm>
            <a:custGeom>
              <a:rect b="b" l="l" r="r" t="t"/>
              <a:pathLst>
                <a:path extrusionOk="0" h="762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76200"/>
                  </a:lnTo>
                  <a:lnTo>
                    <a:pt x="0" y="76200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50000">
                  <a:srgbClr val="00BF63"/>
                </a:gs>
                <a:gs pos="100000">
                  <a:srgbClr val="F69019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38100"/>
              <a:ext cx="3683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2"/>
          <p:cNvSpPr txBox="1"/>
          <p:nvPr/>
        </p:nvSpPr>
        <p:spPr>
          <a:xfrm>
            <a:off x="8524875" y="4378200"/>
            <a:ext cx="95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🍽️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7810500" y="5130675"/>
            <a:ext cx="23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Gustos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7810500" y="5587875"/>
            <a:ext cx="2381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Selecciona el tipo de comida que se te antoja.</a:t>
            </a:r>
            <a:endParaRPr/>
          </a:p>
        </p:txBody>
      </p:sp>
      <p:grpSp>
        <p:nvGrpSpPr>
          <p:cNvPr id="151" name="Google Shape;151;p2"/>
          <p:cNvGrpSpPr/>
          <p:nvPr/>
        </p:nvGrpSpPr>
        <p:grpSpPr>
          <a:xfrm>
            <a:off x="10572750" y="4092450"/>
            <a:ext cx="2762250" cy="3076575"/>
            <a:chOff x="0" y="-38100"/>
            <a:chExt cx="3683000" cy="410210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3683000" cy="4064000"/>
            </a:xfrm>
            <a:custGeom>
              <a:rect b="b" l="l" r="r" t="t"/>
              <a:pathLst>
                <a:path extrusionOk="0" h="4064000" w="3683000">
                  <a:moveTo>
                    <a:pt x="368300" y="0"/>
                  </a:moveTo>
                  <a:lnTo>
                    <a:pt x="3314700" y="0"/>
                  </a:lnTo>
                  <a:cubicBezTo>
                    <a:pt x="3518107" y="0"/>
                    <a:pt x="3683000" y="164894"/>
                    <a:pt x="3683000" y="368300"/>
                  </a:cubicBezTo>
                  <a:lnTo>
                    <a:pt x="3683000" y="3695700"/>
                  </a:lnTo>
                  <a:cubicBezTo>
                    <a:pt x="3683000" y="3899107"/>
                    <a:pt x="3518107" y="4064000"/>
                    <a:pt x="3314700" y="4064000"/>
                  </a:cubicBezTo>
                  <a:lnTo>
                    <a:pt x="368300" y="4064000"/>
                  </a:lnTo>
                  <a:cubicBezTo>
                    <a:pt x="164894" y="4064000"/>
                    <a:pt x="0" y="3899107"/>
                    <a:pt x="0" y="3695700"/>
                  </a:cubicBezTo>
                  <a:lnTo>
                    <a:pt x="0" y="368300"/>
                  </a:lnTo>
                  <a:cubicBezTo>
                    <a:pt x="0" y="164894"/>
                    <a:pt x="164894" y="0"/>
                    <a:pt x="3683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0" y="-38100"/>
              <a:ext cx="3683000" cy="410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0572750" y="4092450"/>
            <a:ext cx="2762250" cy="85725"/>
            <a:chOff x="0" y="-38100"/>
            <a:chExt cx="3683000" cy="1143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3683000" cy="76200"/>
            </a:xfrm>
            <a:custGeom>
              <a:rect b="b" l="l" r="r" t="t"/>
              <a:pathLst>
                <a:path extrusionOk="0" h="762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0" y="-38100"/>
              <a:ext cx="3683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2"/>
          <p:cNvSpPr txBox="1"/>
          <p:nvPr/>
        </p:nvSpPr>
        <p:spPr>
          <a:xfrm>
            <a:off x="11477625" y="4378200"/>
            <a:ext cx="95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📍</a:t>
            </a:r>
            <a:endParaRPr/>
          </a:p>
        </p:txBody>
      </p:sp>
      <p:sp>
        <p:nvSpPr>
          <p:cNvPr id="158" name="Google Shape;158;p2"/>
          <p:cNvSpPr txBox="1"/>
          <p:nvPr/>
        </p:nvSpPr>
        <p:spPr>
          <a:xfrm>
            <a:off x="10763250" y="5130675"/>
            <a:ext cx="23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Ubicación</a:t>
            </a:r>
            <a:endParaRPr/>
          </a:p>
        </p:txBody>
      </p:sp>
      <p:sp>
        <p:nvSpPr>
          <p:cNvPr id="159" name="Google Shape;159;p2"/>
          <p:cNvSpPr txBox="1"/>
          <p:nvPr/>
        </p:nvSpPr>
        <p:spPr>
          <a:xfrm>
            <a:off x="10763250" y="5587875"/>
            <a:ext cx="2381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Encuentra opciones cerca de donde estás.</a:t>
            </a:r>
            <a:endParaRPr/>
          </a:p>
        </p:txBody>
      </p:sp>
      <p:grpSp>
        <p:nvGrpSpPr>
          <p:cNvPr id="160" name="Google Shape;160;p2"/>
          <p:cNvGrpSpPr/>
          <p:nvPr/>
        </p:nvGrpSpPr>
        <p:grpSpPr>
          <a:xfrm>
            <a:off x="13525500" y="4092450"/>
            <a:ext cx="2762250" cy="3076575"/>
            <a:chOff x="0" y="-38100"/>
            <a:chExt cx="3683000" cy="4102100"/>
          </a:xfrm>
        </p:grpSpPr>
        <p:sp>
          <p:nvSpPr>
            <p:cNvPr id="161" name="Google Shape;161;p2"/>
            <p:cNvSpPr/>
            <p:nvPr/>
          </p:nvSpPr>
          <p:spPr>
            <a:xfrm>
              <a:off x="0" y="0"/>
              <a:ext cx="3683000" cy="4064000"/>
            </a:xfrm>
            <a:custGeom>
              <a:rect b="b" l="l" r="r" t="t"/>
              <a:pathLst>
                <a:path extrusionOk="0" h="4064000" w="3683000">
                  <a:moveTo>
                    <a:pt x="368300" y="0"/>
                  </a:moveTo>
                  <a:lnTo>
                    <a:pt x="3314700" y="0"/>
                  </a:lnTo>
                  <a:cubicBezTo>
                    <a:pt x="3518107" y="0"/>
                    <a:pt x="3683000" y="164894"/>
                    <a:pt x="3683000" y="368300"/>
                  </a:cubicBezTo>
                  <a:lnTo>
                    <a:pt x="3683000" y="3695700"/>
                  </a:lnTo>
                  <a:cubicBezTo>
                    <a:pt x="3683000" y="3899107"/>
                    <a:pt x="3518107" y="4064000"/>
                    <a:pt x="3314700" y="4064000"/>
                  </a:cubicBezTo>
                  <a:lnTo>
                    <a:pt x="368300" y="4064000"/>
                  </a:lnTo>
                  <a:cubicBezTo>
                    <a:pt x="164894" y="4064000"/>
                    <a:pt x="0" y="3899107"/>
                    <a:pt x="0" y="3695700"/>
                  </a:cubicBezTo>
                  <a:lnTo>
                    <a:pt x="0" y="368300"/>
                  </a:lnTo>
                  <a:cubicBezTo>
                    <a:pt x="0" y="164894"/>
                    <a:pt x="164894" y="0"/>
                    <a:pt x="3683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0" y="-38100"/>
              <a:ext cx="3683000" cy="410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2"/>
          <p:cNvGrpSpPr/>
          <p:nvPr/>
        </p:nvGrpSpPr>
        <p:grpSpPr>
          <a:xfrm>
            <a:off x="13525500" y="4092450"/>
            <a:ext cx="2762250" cy="85725"/>
            <a:chOff x="0" y="-38100"/>
            <a:chExt cx="3683000" cy="114300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3683000" cy="76200"/>
            </a:xfrm>
            <a:custGeom>
              <a:rect b="b" l="l" r="r" t="t"/>
              <a:pathLst>
                <a:path extrusionOk="0" h="762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8723A"/>
            </a:solidFill>
            <a:ln>
              <a:noFill/>
            </a:ln>
          </p:spPr>
        </p:sp>
        <p:sp>
          <p:nvSpPr>
            <p:cNvPr id="165" name="Google Shape;165;p2"/>
            <p:cNvSpPr txBox="1"/>
            <p:nvPr/>
          </p:nvSpPr>
          <p:spPr>
            <a:xfrm>
              <a:off x="0" y="-38100"/>
              <a:ext cx="36830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2"/>
          <p:cNvSpPr txBox="1"/>
          <p:nvPr/>
        </p:nvSpPr>
        <p:spPr>
          <a:xfrm>
            <a:off x="14430375" y="4378200"/>
            <a:ext cx="95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💰</a:t>
            </a:r>
            <a:endParaRPr/>
          </a:p>
        </p:txBody>
      </p:sp>
      <p:sp>
        <p:nvSpPr>
          <p:cNvPr id="167" name="Google Shape;167;p2"/>
          <p:cNvSpPr txBox="1"/>
          <p:nvPr/>
        </p:nvSpPr>
        <p:spPr>
          <a:xfrm>
            <a:off x="13716000" y="5130675"/>
            <a:ext cx="23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Presupuesto</a:t>
            </a:r>
            <a:endParaRPr/>
          </a:p>
        </p:txBody>
      </p:sp>
      <p:sp>
        <p:nvSpPr>
          <p:cNvPr id="168" name="Google Shape;168;p2"/>
          <p:cNvSpPr txBox="1"/>
          <p:nvPr/>
        </p:nvSpPr>
        <p:spPr>
          <a:xfrm>
            <a:off x="13716000" y="5587875"/>
            <a:ext cx="2381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Solo verás opciones que se ajusten a tu bolsillo.</a:t>
            </a:r>
            <a:endParaRPr/>
          </a:p>
        </p:txBody>
      </p:sp>
      <p:sp>
        <p:nvSpPr>
          <p:cNvPr id="169" name="Google Shape;169;p2"/>
          <p:cNvSpPr txBox="1"/>
          <p:nvPr/>
        </p:nvSpPr>
        <p:spPr>
          <a:xfrm>
            <a:off x="762000" y="9467850"/>
            <a:ext cx="3810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Capstone — Propuesta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3"/>
          <p:cNvGrpSpPr/>
          <p:nvPr/>
        </p:nvGrpSpPr>
        <p:grpSpPr>
          <a:xfrm>
            <a:off x="10161038" y="-28575"/>
            <a:ext cx="8126962" cy="10315575"/>
            <a:chOff x="0" y="-38100"/>
            <a:chExt cx="10835950" cy="13754100"/>
          </a:xfrm>
        </p:grpSpPr>
        <p:sp>
          <p:nvSpPr>
            <p:cNvPr id="175" name="Google Shape;175;p3"/>
            <p:cNvSpPr/>
            <p:nvPr/>
          </p:nvSpPr>
          <p:spPr>
            <a:xfrm>
              <a:off x="0" y="0"/>
              <a:ext cx="10835949" cy="13716000"/>
            </a:xfrm>
            <a:custGeom>
              <a:rect b="b" l="l" r="r" t="t"/>
              <a:pathLst>
                <a:path extrusionOk="0" h="13716000" w="10835949">
                  <a:moveTo>
                    <a:pt x="0" y="0"/>
                  </a:moveTo>
                  <a:lnTo>
                    <a:pt x="10835949" y="0"/>
                  </a:lnTo>
                  <a:lnTo>
                    <a:pt x="10835949" y="13716000"/>
                  </a:lnTo>
                  <a:lnTo>
                    <a:pt x="0" y="13716000"/>
                  </a:lnTo>
                  <a:close/>
                </a:path>
              </a:pathLst>
            </a:custGeom>
            <a:gradFill>
              <a:gsLst>
                <a:gs pos="0">
                  <a:srgbClr val="CC0BEB"/>
                </a:gs>
                <a:gs pos="50000">
                  <a:srgbClr val="5DC45A"/>
                </a:gs>
                <a:gs pos="100000">
                  <a:srgbClr val="FF6300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76" name="Google Shape;176;p3"/>
            <p:cNvSpPr txBox="1"/>
            <p:nvPr/>
          </p:nvSpPr>
          <p:spPr>
            <a:xfrm>
              <a:off x="0" y="-38100"/>
              <a:ext cx="10835950" cy="137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 rot="2700000">
            <a:off x="869370" y="7893683"/>
            <a:ext cx="2381115" cy="2409688"/>
            <a:chOff x="0" y="-38100"/>
            <a:chExt cx="3175000" cy="3213100"/>
          </a:xfrm>
        </p:grpSpPr>
        <p:sp>
          <p:nvSpPr>
            <p:cNvPr id="178" name="Google Shape;178;p3"/>
            <p:cNvSpPr/>
            <p:nvPr/>
          </p:nvSpPr>
          <p:spPr>
            <a:xfrm>
              <a:off x="0" y="0"/>
              <a:ext cx="3175000" cy="3175000"/>
            </a:xfrm>
            <a:custGeom>
              <a:rect b="b" l="l" r="r" t="t"/>
              <a:pathLst>
                <a:path extrusionOk="0" h="3175000" w="3175000">
                  <a:moveTo>
                    <a:pt x="1587500" y="0"/>
                  </a:moveTo>
                  <a:lnTo>
                    <a:pt x="3175000" y="1587500"/>
                  </a:lnTo>
                  <a:lnTo>
                    <a:pt x="1587500" y="3175000"/>
                  </a:lnTo>
                  <a:lnTo>
                    <a:pt x="0" y="15875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7B61FF">
                <a:alpha val="14902"/>
              </a:srgbClr>
            </a:solidFill>
            <a:ln>
              <a:noFill/>
            </a:ln>
          </p:spPr>
        </p:sp>
        <p:sp>
          <p:nvSpPr>
            <p:cNvPr id="179" name="Google Shape;179;p3"/>
            <p:cNvSpPr txBox="1"/>
            <p:nvPr/>
          </p:nvSpPr>
          <p:spPr>
            <a:xfrm>
              <a:off x="0" y="-38100"/>
              <a:ext cx="3175000" cy="32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3"/>
          <p:cNvGrpSpPr/>
          <p:nvPr/>
        </p:nvGrpSpPr>
        <p:grpSpPr>
          <a:xfrm rot="900194">
            <a:off x="10084170" y="-1154644"/>
            <a:ext cx="2310666" cy="2333772"/>
            <a:chOff x="0" y="-38100"/>
            <a:chExt cx="3810000" cy="3848100"/>
          </a:xfrm>
        </p:grpSpPr>
        <p:sp>
          <p:nvSpPr>
            <p:cNvPr id="181" name="Google Shape;181;p3"/>
            <p:cNvSpPr/>
            <p:nvPr/>
          </p:nvSpPr>
          <p:spPr>
            <a:xfrm>
              <a:off x="0" y="0"/>
              <a:ext cx="3810000" cy="3810000"/>
            </a:xfrm>
            <a:custGeom>
              <a:rect b="b" l="l" r="r" t="t"/>
              <a:pathLst>
                <a:path extrusionOk="0" h="3810000" w="3810000">
                  <a:moveTo>
                    <a:pt x="1905000" y="0"/>
                  </a:moveTo>
                  <a:lnTo>
                    <a:pt x="3810000" y="3810000"/>
                  </a:lnTo>
                  <a:lnTo>
                    <a:pt x="0" y="3810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E8723A"/>
            </a:solidFill>
            <a:ln>
              <a:noFill/>
            </a:ln>
          </p:spPr>
        </p:sp>
        <p:sp>
          <p:nvSpPr>
            <p:cNvPr id="182" name="Google Shape;182;p3"/>
            <p:cNvSpPr txBox="1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075" lIns="41075" spcFirstLastPara="1" rIns="41075" wrap="square" tIns="410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3"/>
          <p:cNvGrpSpPr/>
          <p:nvPr/>
        </p:nvGrpSpPr>
        <p:grpSpPr>
          <a:xfrm>
            <a:off x="17145000" y="5686425"/>
            <a:ext cx="762000" cy="790575"/>
            <a:chOff x="0" y="-38100"/>
            <a:chExt cx="1016000" cy="1054100"/>
          </a:xfrm>
        </p:grpSpPr>
        <p:sp>
          <p:nvSpPr>
            <p:cNvPr id="184" name="Google Shape;184;p3"/>
            <p:cNvSpPr/>
            <p:nvPr/>
          </p:nvSpPr>
          <p:spPr>
            <a:xfrm>
              <a:off x="0" y="0"/>
              <a:ext cx="1016000" cy="1016000"/>
            </a:xfrm>
            <a:custGeom>
              <a:rect b="b" l="l" r="r" t="t"/>
              <a:pathLst>
                <a:path extrusionOk="0"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E8723A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"/>
            <p:cNvSpPr txBox="1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3"/>
          <p:cNvGrpSpPr/>
          <p:nvPr/>
        </p:nvGrpSpPr>
        <p:grpSpPr>
          <a:xfrm>
            <a:off x="9484175" y="1635438"/>
            <a:ext cx="571500" cy="600075"/>
            <a:chOff x="0" y="-38100"/>
            <a:chExt cx="762000" cy="800100"/>
          </a:xfrm>
        </p:grpSpPr>
        <p:sp>
          <p:nvSpPr>
            <p:cNvPr id="187" name="Google Shape;187;p3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7B61FF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3"/>
          <p:cNvSpPr txBox="1"/>
          <p:nvPr/>
        </p:nvSpPr>
        <p:spPr>
          <a:xfrm>
            <a:off x="762000" y="714375"/>
            <a:ext cx="190500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17594A"/>
                </a:solidFill>
                <a:latin typeface="Antonio"/>
                <a:ea typeface="Antonio"/>
                <a:cs typeface="Antonio"/>
                <a:sym typeface="Antonio"/>
              </a:rPr>
              <a:t>02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762000" y="2733675"/>
            <a:ext cx="5715000" cy="900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17594A"/>
                </a:solidFill>
                <a:latin typeface="Antonio"/>
                <a:ea typeface="Antonio"/>
                <a:cs typeface="Antonio"/>
                <a:sym typeface="Antonio"/>
              </a:rPr>
              <a:t>El Problema</a:t>
            </a:r>
            <a:endParaRPr/>
          </a:p>
        </p:txBody>
      </p:sp>
      <p:cxnSp>
        <p:nvCxnSpPr>
          <p:cNvPr id="191" name="Google Shape;191;p3"/>
          <p:cNvCxnSpPr/>
          <p:nvPr/>
        </p:nvCxnSpPr>
        <p:spPr>
          <a:xfrm>
            <a:off x="762000" y="3617550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E872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3"/>
          <p:cNvSpPr txBox="1"/>
          <p:nvPr/>
        </p:nvSpPr>
        <p:spPr>
          <a:xfrm>
            <a:off x="762000" y="3695700"/>
            <a:ext cx="523875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Existen muchas opciones gastronómicas, pero elegir una que coincida al mismo tiempo con tu antojo, tu presupuesto y tu ubicación puede ser difícil y frustrante.</a:t>
            </a:r>
            <a:endParaRPr/>
          </a:p>
        </p:txBody>
      </p:sp>
      <p:grpSp>
        <p:nvGrpSpPr>
          <p:cNvPr id="193" name="Google Shape;193;p3"/>
          <p:cNvGrpSpPr/>
          <p:nvPr/>
        </p:nvGrpSpPr>
        <p:grpSpPr>
          <a:xfrm>
            <a:off x="762000" y="5869938"/>
            <a:ext cx="5238750" cy="1362075"/>
            <a:chOff x="0" y="-38100"/>
            <a:chExt cx="6985000" cy="1816100"/>
          </a:xfrm>
        </p:grpSpPr>
        <p:sp>
          <p:nvSpPr>
            <p:cNvPr id="194" name="Google Shape;194;p3"/>
            <p:cNvSpPr/>
            <p:nvPr/>
          </p:nvSpPr>
          <p:spPr>
            <a:xfrm>
              <a:off x="0" y="0"/>
              <a:ext cx="6985000" cy="1778000"/>
            </a:xfrm>
            <a:custGeom>
              <a:rect b="b" l="l" r="r" t="t"/>
              <a:pathLst>
                <a:path extrusionOk="0" h="1778000" w="6985000">
                  <a:moveTo>
                    <a:pt x="177800" y="0"/>
                  </a:moveTo>
                  <a:lnTo>
                    <a:pt x="6807200" y="0"/>
                  </a:lnTo>
                  <a:cubicBezTo>
                    <a:pt x="6905396" y="0"/>
                    <a:pt x="6985000" y="79604"/>
                    <a:pt x="6985000" y="177800"/>
                  </a:cubicBezTo>
                  <a:lnTo>
                    <a:pt x="6985000" y="1600200"/>
                  </a:lnTo>
                  <a:cubicBezTo>
                    <a:pt x="6985000" y="1698396"/>
                    <a:pt x="6905396" y="1778000"/>
                    <a:pt x="6807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 txBox="1"/>
            <p:nvPr/>
          </p:nvSpPr>
          <p:spPr>
            <a:xfrm>
              <a:off x="0" y="-38100"/>
              <a:ext cx="6985000" cy="18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3"/>
          <p:cNvGrpSpPr/>
          <p:nvPr/>
        </p:nvGrpSpPr>
        <p:grpSpPr>
          <a:xfrm>
            <a:off x="762000" y="5869938"/>
            <a:ext cx="57150" cy="1362075"/>
            <a:chOff x="0" y="-38100"/>
            <a:chExt cx="76200" cy="1816100"/>
          </a:xfrm>
        </p:grpSpPr>
        <p:sp>
          <p:nvSpPr>
            <p:cNvPr id="197" name="Google Shape;197;p3"/>
            <p:cNvSpPr/>
            <p:nvPr/>
          </p:nvSpPr>
          <p:spPr>
            <a:xfrm>
              <a:off x="0" y="0"/>
              <a:ext cx="76200" cy="1778000"/>
            </a:xfrm>
            <a:custGeom>
              <a:rect b="b" l="l" r="r" t="t"/>
              <a:pathLst>
                <a:path extrusionOk="0" h="1778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E8723A"/>
            </a:solidFill>
            <a:ln>
              <a:noFill/>
            </a:ln>
          </p:spPr>
        </p:sp>
        <p:sp>
          <p:nvSpPr>
            <p:cNvPr id="198" name="Google Shape;198;p3"/>
            <p:cNvSpPr txBox="1"/>
            <p:nvPr/>
          </p:nvSpPr>
          <p:spPr>
            <a:xfrm>
              <a:off x="0" y="-38100"/>
              <a:ext cx="76200" cy="18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 txBox="1"/>
          <p:nvPr/>
        </p:nvSpPr>
        <p:spPr>
          <a:xfrm>
            <a:off x="1047750" y="6022338"/>
            <a:ext cx="4762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23A"/>
                </a:solidFill>
                <a:latin typeface="Antonio"/>
                <a:ea typeface="Antonio"/>
                <a:cs typeface="Antonio"/>
                <a:sym typeface="Antonio"/>
              </a:rPr>
              <a:t>"¿Qué puedo comer, dónde puedo encontrarlo y me alcanza con el presupuesto que tengo?"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12573000" y="1609725"/>
            <a:ext cx="5715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🍔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13335000" y="1724025"/>
            <a:ext cx="3810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Muchas opciones</a:t>
            </a:r>
            <a:endParaRPr/>
          </a:p>
        </p:txBody>
      </p:sp>
      <p:sp>
        <p:nvSpPr>
          <p:cNvPr id="202" name="Google Shape;202;p3"/>
          <p:cNvSpPr txBox="1"/>
          <p:nvPr/>
        </p:nvSpPr>
        <p:spPr>
          <a:xfrm>
            <a:off x="13335000" y="2133600"/>
            <a:ext cx="381000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Revisar menús, precios y opiniones manualmente toma demasiado tiempo.</a:t>
            </a:r>
            <a:endParaRPr/>
          </a:p>
        </p:txBody>
      </p:sp>
      <p:sp>
        <p:nvSpPr>
          <p:cNvPr id="203" name="Google Shape;203;p3"/>
          <p:cNvSpPr txBox="1"/>
          <p:nvPr/>
        </p:nvSpPr>
        <p:spPr>
          <a:xfrm>
            <a:off x="12573000" y="4181475"/>
            <a:ext cx="5715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📍</a:t>
            </a:r>
            <a:endParaRPr/>
          </a:p>
        </p:txBody>
      </p:sp>
      <p:sp>
        <p:nvSpPr>
          <p:cNvPr id="204" name="Google Shape;204;p3"/>
          <p:cNvSpPr txBox="1"/>
          <p:nvPr/>
        </p:nvSpPr>
        <p:spPr>
          <a:xfrm>
            <a:off x="13335000" y="4295775"/>
            <a:ext cx="3810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Lejos o cerca</a:t>
            </a:r>
            <a:endParaRPr/>
          </a:p>
        </p:txBody>
      </p:sp>
      <p:sp>
        <p:nvSpPr>
          <p:cNvPr id="205" name="Google Shape;205;p3"/>
          <p:cNvSpPr txBox="1"/>
          <p:nvPr/>
        </p:nvSpPr>
        <p:spPr>
          <a:xfrm>
            <a:off x="13335000" y="4705350"/>
            <a:ext cx="381000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siempre sabes qué opciones hay cerca de donde estás.</a:t>
            </a:r>
            <a:endParaRPr/>
          </a:p>
        </p:txBody>
      </p:sp>
      <p:sp>
        <p:nvSpPr>
          <p:cNvPr id="206" name="Google Shape;206;p3"/>
          <p:cNvSpPr txBox="1"/>
          <p:nvPr/>
        </p:nvSpPr>
        <p:spPr>
          <a:xfrm>
            <a:off x="12573000" y="6753225"/>
            <a:ext cx="5715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💸</a:t>
            </a:r>
            <a:endParaRPr/>
          </a:p>
        </p:txBody>
      </p:sp>
      <p:sp>
        <p:nvSpPr>
          <p:cNvPr id="207" name="Google Shape;207;p3"/>
          <p:cNvSpPr txBox="1"/>
          <p:nvPr/>
        </p:nvSpPr>
        <p:spPr>
          <a:xfrm>
            <a:off x="13335000" y="6867525"/>
            <a:ext cx="3810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¿Me alcanza?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13335000" y="7277100"/>
            <a:ext cx="381000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Encontrar algo rico dentro de tu presupuesto es un reto constante.</a:t>
            </a:r>
            <a:endParaRPr/>
          </a:p>
        </p:txBody>
      </p:sp>
      <p:sp>
        <p:nvSpPr>
          <p:cNvPr id="209" name="Google Shape;209;p3"/>
          <p:cNvSpPr txBox="1"/>
          <p:nvPr/>
        </p:nvSpPr>
        <p:spPr>
          <a:xfrm>
            <a:off x="762000" y="9467850"/>
            <a:ext cx="3810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Proyecto Capstone — Propuesta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13525500" y="9467850"/>
            <a:ext cx="3810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Sebastian Becerra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4"/>
          <p:cNvGrpSpPr/>
          <p:nvPr/>
        </p:nvGrpSpPr>
        <p:grpSpPr>
          <a:xfrm>
            <a:off x="0" y="-28575"/>
            <a:ext cx="6191250" cy="10315575"/>
            <a:chOff x="0" y="-38100"/>
            <a:chExt cx="8255000" cy="13754100"/>
          </a:xfrm>
        </p:grpSpPr>
        <p:sp>
          <p:nvSpPr>
            <p:cNvPr id="216" name="Google Shape;216;p4"/>
            <p:cNvSpPr/>
            <p:nvPr/>
          </p:nvSpPr>
          <p:spPr>
            <a:xfrm>
              <a:off x="0" y="0"/>
              <a:ext cx="8255000" cy="13716000"/>
            </a:xfrm>
            <a:custGeom>
              <a:rect b="b" l="l" r="r" t="t"/>
              <a:pathLst>
                <a:path extrusionOk="0" h="13716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>
              <a:gsLst>
                <a:gs pos="0">
                  <a:srgbClr val="CC0BEB"/>
                </a:gs>
                <a:gs pos="50000">
                  <a:srgbClr val="5DC45A"/>
                </a:gs>
                <a:gs pos="100000">
                  <a:srgbClr val="FF6300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17" name="Google Shape;217;p4"/>
            <p:cNvSpPr txBox="1"/>
            <p:nvPr/>
          </p:nvSpPr>
          <p:spPr>
            <a:xfrm>
              <a:off x="0" y="-38100"/>
              <a:ext cx="8255000" cy="137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 rot="1800000">
            <a:off x="5245894" y="7117089"/>
            <a:ext cx="2381250" cy="2409825"/>
            <a:chOff x="0" y="-38100"/>
            <a:chExt cx="3175000" cy="3213100"/>
          </a:xfrm>
        </p:grpSpPr>
        <p:sp>
          <p:nvSpPr>
            <p:cNvPr id="219" name="Google Shape;219;p4"/>
            <p:cNvSpPr/>
            <p:nvPr/>
          </p:nvSpPr>
          <p:spPr>
            <a:xfrm>
              <a:off x="0" y="0"/>
              <a:ext cx="3175000" cy="3175000"/>
            </a:xfrm>
            <a:custGeom>
              <a:rect b="b" l="l" r="r" t="t"/>
              <a:pathLst>
                <a:path extrusionOk="0" h="3175000" w="3175000">
                  <a:moveTo>
                    <a:pt x="1587500" y="0"/>
                  </a:moveTo>
                  <a:lnTo>
                    <a:pt x="3175000" y="3175000"/>
                  </a:lnTo>
                  <a:lnTo>
                    <a:pt x="0" y="3175000"/>
                  </a:lnTo>
                  <a:lnTo>
                    <a:pt x="1587500" y="0"/>
                  </a:lnTo>
                  <a:close/>
                </a:path>
              </a:pathLst>
            </a:custGeom>
            <a:solidFill>
              <a:srgbClr val="7B61FF">
                <a:alpha val="29804"/>
              </a:srgbClr>
            </a:solidFill>
            <a:ln>
              <a:noFill/>
            </a:ln>
          </p:spPr>
        </p:sp>
        <p:sp>
          <p:nvSpPr>
            <p:cNvPr id="220" name="Google Shape;220;p4"/>
            <p:cNvSpPr txBox="1"/>
            <p:nvPr/>
          </p:nvSpPr>
          <p:spPr>
            <a:xfrm>
              <a:off x="0" y="-38100"/>
              <a:ext cx="3175000" cy="32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4"/>
          <p:cNvGrpSpPr/>
          <p:nvPr/>
        </p:nvGrpSpPr>
        <p:grpSpPr>
          <a:xfrm rot="900000">
            <a:off x="16196198" y="-409088"/>
            <a:ext cx="1905000" cy="1933575"/>
            <a:chOff x="0" y="-38100"/>
            <a:chExt cx="2540000" cy="2578100"/>
          </a:xfrm>
        </p:grpSpPr>
        <p:sp>
          <p:nvSpPr>
            <p:cNvPr id="222" name="Google Shape;222;p4"/>
            <p:cNvSpPr/>
            <p:nvPr/>
          </p:nvSpPr>
          <p:spPr>
            <a:xfrm>
              <a:off x="0" y="0"/>
              <a:ext cx="2540000" cy="2540000"/>
            </a:xfrm>
            <a:custGeom>
              <a:rect b="b" l="l" r="r" t="t"/>
              <a:pathLst>
                <a:path extrusionOk="0" h="2540000" w="2540000">
                  <a:moveTo>
                    <a:pt x="1270000" y="0"/>
                  </a:moveTo>
                  <a:lnTo>
                    <a:pt x="2540000" y="1270000"/>
                  </a:lnTo>
                  <a:lnTo>
                    <a:pt x="1270000" y="2540000"/>
                  </a:lnTo>
                  <a:lnTo>
                    <a:pt x="0" y="1270000"/>
                  </a:lnTo>
                  <a:lnTo>
                    <a:pt x="1270000" y="0"/>
                  </a:lnTo>
                  <a:close/>
                </a:path>
              </a:pathLst>
            </a:custGeom>
            <a:gradFill>
              <a:gsLst>
                <a:gs pos="0">
                  <a:srgbClr val="560BEB"/>
                </a:gs>
                <a:gs pos="50000">
                  <a:srgbClr val="89C886"/>
                </a:gs>
                <a:gs pos="100000">
                  <a:srgbClr val="FF630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3" name="Google Shape;223;p4"/>
            <p:cNvSpPr txBox="1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4"/>
          <p:cNvGrpSpPr/>
          <p:nvPr/>
        </p:nvGrpSpPr>
        <p:grpSpPr>
          <a:xfrm>
            <a:off x="17145000" y="4733925"/>
            <a:ext cx="571500" cy="600075"/>
            <a:chOff x="0" y="-38100"/>
            <a:chExt cx="762000" cy="800100"/>
          </a:xfrm>
        </p:grpSpPr>
        <p:sp>
          <p:nvSpPr>
            <p:cNvPr id="225" name="Google Shape;225;p4"/>
            <p:cNvSpPr/>
            <p:nvPr/>
          </p:nvSpPr>
          <p:spPr>
            <a:xfrm>
              <a:off x="0" y="0"/>
              <a:ext cx="762000" cy="762000"/>
            </a:xfrm>
            <a:custGeom>
              <a:rect b="b" l="l" r="r" t="t"/>
              <a:pathLst>
                <a:path extrusionOk="0"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7B61FF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4"/>
          <p:cNvGrpSpPr/>
          <p:nvPr/>
        </p:nvGrpSpPr>
        <p:grpSpPr>
          <a:xfrm>
            <a:off x="5715000" y="1400175"/>
            <a:ext cx="666750" cy="695325"/>
            <a:chOff x="0" y="-38100"/>
            <a:chExt cx="889000" cy="927100"/>
          </a:xfrm>
        </p:grpSpPr>
        <p:sp>
          <p:nvSpPr>
            <p:cNvPr id="228" name="Google Shape;228;p4"/>
            <p:cNvSpPr/>
            <p:nvPr/>
          </p:nvSpPr>
          <p:spPr>
            <a:xfrm>
              <a:off x="0" y="0"/>
              <a:ext cx="889000" cy="889000"/>
            </a:xfrm>
            <a:custGeom>
              <a:rect b="b" l="l" r="r" t="t"/>
              <a:pathLst>
                <a:path extrusionOk="0"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E8723A">
                <a:alpha val="4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4"/>
          <p:cNvSpPr txBox="1"/>
          <p:nvPr/>
        </p:nvSpPr>
        <p:spPr>
          <a:xfrm>
            <a:off x="762000" y="714375"/>
            <a:ext cx="190500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03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762000" y="2724150"/>
            <a:ext cx="4762500" cy="1576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¿Para quién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está pensada?</a:t>
            </a:r>
            <a:endParaRPr/>
          </a:p>
        </p:txBody>
      </p:sp>
      <p:cxnSp>
        <p:nvCxnSpPr>
          <p:cNvPr id="232" name="Google Shape;232;p4"/>
          <p:cNvCxnSpPr/>
          <p:nvPr/>
        </p:nvCxnSpPr>
        <p:spPr>
          <a:xfrm>
            <a:off x="762000" y="4517775"/>
            <a:ext cx="2095500" cy="0"/>
          </a:xfrm>
          <a:prstGeom prst="straightConnector1">
            <a:avLst/>
          </a:prstGeom>
          <a:noFill/>
          <a:ln cap="flat" cmpd="sng" w="38100">
            <a:solidFill>
              <a:srgbClr val="E872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4"/>
          <p:cNvSpPr txBox="1"/>
          <p:nvPr/>
        </p:nvSpPr>
        <p:spPr>
          <a:xfrm>
            <a:off x="714375" y="5334000"/>
            <a:ext cx="4762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FoodMatch está diseñada para cualquier persona que necesite decidir qué comer.</a:t>
            </a:r>
            <a:endParaRPr/>
          </a:p>
        </p:txBody>
      </p:sp>
      <p:grpSp>
        <p:nvGrpSpPr>
          <p:cNvPr id="234" name="Google Shape;234;p4"/>
          <p:cNvGrpSpPr/>
          <p:nvPr/>
        </p:nvGrpSpPr>
        <p:grpSpPr>
          <a:xfrm>
            <a:off x="8218125" y="2093288"/>
            <a:ext cx="3906063" cy="1872612"/>
            <a:chOff x="0" y="-38100"/>
            <a:chExt cx="4318000" cy="2070100"/>
          </a:xfrm>
        </p:grpSpPr>
        <p:sp>
          <p:nvSpPr>
            <p:cNvPr id="235" name="Google Shape;235;p4"/>
            <p:cNvSpPr/>
            <p:nvPr/>
          </p:nvSpPr>
          <p:spPr>
            <a:xfrm>
              <a:off x="0" y="0"/>
              <a:ext cx="4318000" cy="2032000"/>
            </a:xfrm>
            <a:custGeom>
              <a:rect b="b" l="l" r="r" t="t"/>
              <a:pathLst>
                <a:path extrusionOk="0" h="2032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1828800"/>
                  </a:lnTo>
                  <a:cubicBezTo>
                    <a:pt x="4318000" y="1941024"/>
                    <a:pt x="4227024" y="2032000"/>
                    <a:pt x="4114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 txBox="1"/>
            <p:nvPr/>
          </p:nvSpPr>
          <p:spPr>
            <a:xfrm>
              <a:off x="0" y="-38100"/>
              <a:ext cx="4318000" cy="20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4"/>
          <p:cNvGrpSpPr/>
          <p:nvPr/>
        </p:nvGrpSpPr>
        <p:grpSpPr>
          <a:xfrm>
            <a:off x="8218125" y="2093288"/>
            <a:ext cx="3906063" cy="91907"/>
            <a:chOff x="0" y="-38100"/>
            <a:chExt cx="4318000" cy="101600"/>
          </a:xfrm>
        </p:grpSpPr>
        <p:sp>
          <p:nvSpPr>
            <p:cNvPr id="238" name="Google Shape;238;p4"/>
            <p:cNvSpPr/>
            <p:nvPr/>
          </p:nvSpPr>
          <p:spPr>
            <a:xfrm>
              <a:off x="0" y="0"/>
              <a:ext cx="4318000" cy="63500"/>
            </a:xfrm>
            <a:custGeom>
              <a:rect b="b" l="l" r="r" t="t"/>
              <a:pathLst>
                <a:path extrusionOk="0" h="635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63500"/>
                  </a:lnTo>
                  <a:lnTo>
                    <a:pt x="0" y="63500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50000">
                  <a:srgbClr val="00BF63"/>
                </a:gs>
                <a:gs pos="100000">
                  <a:srgbClr val="F69019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39" name="Google Shape;239;p4"/>
            <p:cNvSpPr txBox="1"/>
            <p:nvPr/>
          </p:nvSpPr>
          <p:spPr>
            <a:xfrm>
              <a:off x="0" y="-38100"/>
              <a:ext cx="4318000" cy="1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4"/>
          <p:cNvSpPr txBox="1"/>
          <p:nvPr/>
        </p:nvSpPr>
        <p:spPr>
          <a:xfrm>
            <a:off x="8408625" y="2217113"/>
            <a:ext cx="47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/>
          </a:p>
        </p:txBody>
      </p:sp>
      <p:sp>
        <p:nvSpPr>
          <p:cNvPr id="241" name="Google Shape;241;p4"/>
          <p:cNvSpPr txBox="1"/>
          <p:nvPr/>
        </p:nvSpPr>
        <p:spPr>
          <a:xfrm>
            <a:off x="9022328" y="2357526"/>
            <a:ext cx="28722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Estudiantes</a:t>
            </a:r>
            <a:endParaRPr sz="1689"/>
          </a:p>
        </p:txBody>
      </p:sp>
      <p:sp>
        <p:nvSpPr>
          <p:cNvPr id="242" name="Google Shape;242;p4"/>
          <p:cNvSpPr txBox="1"/>
          <p:nvPr/>
        </p:nvSpPr>
        <p:spPr>
          <a:xfrm>
            <a:off x="8447897" y="2782604"/>
            <a:ext cx="34467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9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 presupuesto limitado que buscan comer bien sin gastar de más.</a:t>
            </a:r>
            <a:endParaRPr sz="1689"/>
          </a:p>
        </p:txBody>
      </p:sp>
      <p:grpSp>
        <p:nvGrpSpPr>
          <p:cNvPr id="243" name="Google Shape;243;p4"/>
          <p:cNvGrpSpPr/>
          <p:nvPr/>
        </p:nvGrpSpPr>
        <p:grpSpPr>
          <a:xfrm>
            <a:off x="12468910" y="2093288"/>
            <a:ext cx="3906063" cy="1872612"/>
            <a:chOff x="0" y="-38100"/>
            <a:chExt cx="4318000" cy="2070100"/>
          </a:xfrm>
        </p:grpSpPr>
        <p:sp>
          <p:nvSpPr>
            <p:cNvPr id="244" name="Google Shape;244;p4"/>
            <p:cNvSpPr/>
            <p:nvPr/>
          </p:nvSpPr>
          <p:spPr>
            <a:xfrm>
              <a:off x="0" y="0"/>
              <a:ext cx="4318000" cy="2032000"/>
            </a:xfrm>
            <a:custGeom>
              <a:rect b="b" l="l" r="r" t="t"/>
              <a:pathLst>
                <a:path extrusionOk="0" h="2032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1828800"/>
                  </a:lnTo>
                  <a:cubicBezTo>
                    <a:pt x="4318000" y="1941024"/>
                    <a:pt x="4227024" y="2032000"/>
                    <a:pt x="4114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 txBox="1"/>
            <p:nvPr/>
          </p:nvSpPr>
          <p:spPr>
            <a:xfrm>
              <a:off x="0" y="-38100"/>
              <a:ext cx="4318000" cy="20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4"/>
          <p:cNvGrpSpPr/>
          <p:nvPr/>
        </p:nvGrpSpPr>
        <p:grpSpPr>
          <a:xfrm>
            <a:off x="12468910" y="2093288"/>
            <a:ext cx="3906063" cy="91907"/>
            <a:chOff x="0" y="-38100"/>
            <a:chExt cx="4318000" cy="101600"/>
          </a:xfrm>
        </p:grpSpPr>
        <p:sp>
          <p:nvSpPr>
            <p:cNvPr id="247" name="Google Shape;247;p4"/>
            <p:cNvSpPr/>
            <p:nvPr/>
          </p:nvSpPr>
          <p:spPr>
            <a:xfrm>
              <a:off x="0" y="0"/>
              <a:ext cx="4318000" cy="63500"/>
            </a:xfrm>
            <a:custGeom>
              <a:rect b="b" l="l" r="r" t="t"/>
              <a:pathLst>
                <a:path extrusionOk="0" h="635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248" name="Google Shape;248;p4"/>
            <p:cNvSpPr txBox="1"/>
            <p:nvPr/>
          </p:nvSpPr>
          <p:spPr>
            <a:xfrm>
              <a:off x="0" y="-38100"/>
              <a:ext cx="4318000" cy="1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4"/>
          <p:cNvSpPr txBox="1"/>
          <p:nvPr/>
        </p:nvSpPr>
        <p:spPr>
          <a:xfrm>
            <a:off x="12698683" y="2242639"/>
            <a:ext cx="57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6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👫</a:t>
            </a:r>
            <a:endParaRPr sz="1689"/>
          </a:p>
        </p:txBody>
      </p:sp>
      <p:sp>
        <p:nvSpPr>
          <p:cNvPr id="250" name="Google Shape;250;p4"/>
          <p:cNvSpPr txBox="1"/>
          <p:nvPr/>
        </p:nvSpPr>
        <p:spPr>
          <a:xfrm>
            <a:off x="13273113" y="2357526"/>
            <a:ext cx="28722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Amigos</a:t>
            </a:r>
            <a:endParaRPr sz="1689"/>
          </a:p>
        </p:txBody>
      </p:sp>
      <p:sp>
        <p:nvSpPr>
          <p:cNvPr id="251" name="Google Shape;251;p4"/>
          <p:cNvSpPr txBox="1"/>
          <p:nvPr/>
        </p:nvSpPr>
        <p:spPr>
          <a:xfrm>
            <a:off x="12698683" y="2782604"/>
            <a:ext cx="34467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9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Que juntan un monto máximo y quieren algo que les guste a todos.</a:t>
            </a:r>
            <a:endParaRPr sz="1689"/>
          </a:p>
        </p:txBody>
      </p:sp>
      <p:grpSp>
        <p:nvGrpSpPr>
          <p:cNvPr id="252" name="Google Shape;252;p4"/>
          <p:cNvGrpSpPr/>
          <p:nvPr/>
        </p:nvGrpSpPr>
        <p:grpSpPr>
          <a:xfrm>
            <a:off x="8218125" y="4207192"/>
            <a:ext cx="3906063" cy="1872612"/>
            <a:chOff x="0" y="-38100"/>
            <a:chExt cx="4318000" cy="2070100"/>
          </a:xfrm>
        </p:grpSpPr>
        <p:sp>
          <p:nvSpPr>
            <p:cNvPr id="253" name="Google Shape;253;p4"/>
            <p:cNvSpPr/>
            <p:nvPr/>
          </p:nvSpPr>
          <p:spPr>
            <a:xfrm>
              <a:off x="0" y="0"/>
              <a:ext cx="4318000" cy="2032000"/>
            </a:xfrm>
            <a:custGeom>
              <a:rect b="b" l="l" r="r" t="t"/>
              <a:pathLst>
                <a:path extrusionOk="0" h="2032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1828800"/>
                  </a:lnTo>
                  <a:cubicBezTo>
                    <a:pt x="4318000" y="1941024"/>
                    <a:pt x="4227024" y="2032000"/>
                    <a:pt x="4114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 txBox="1"/>
            <p:nvPr/>
          </p:nvSpPr>
          <p:spPr>
            <a:xfrm>
              <a:off x="0" y="-38100"/>
              <a:ext cx="4318000" cy="20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4"/>
          <p:cNvGrpSpPr/>
          <p:nvPr/>
        </p:nvGrpSpPr>
        <p:grpSpPr>
          <a:xfrm>
            <a:off x="8218125" y="4207192"/>
            <a:ext cx="3906063" cy="91907"/>
            <a:chOff x="0" y="-38100"/>
            <a:chExt cx="4318000" cy="101600"/>
          </a:xfrm>
        </p:grpSpPr>
        <p:sp>
          <p:nvSpPr>
            <p:cNvPr id="256" name="Google Shape;256;p4"/>
            <p:cNvSpPr/>
            <p:nvPr/>
          </p:nvSpPr>
          <p:spPr>
            <a:xfrm>
              <a:off x="0" y="0"/>
              <a:ext cx="4318000" cy="63500"/>
            </a:xfrm>
            <a:custGeom>
              <a:rect b="b" l="l" r="r" t="t"/>
              <a:pathLst>
                <a:path extrusionOk="0" h="635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8723A"/>
            </a:solidFill>
            <a:ln>
              <a:noFill/>
            </a:ln>
          </p:spPr>
        </p:sp>
        <p:sp>
          <p:nvSpPr>
            <p:cNvPr id="257" name="Google Shape;257;p4"/>
            <p:cNvSpPr txBox="1"/>
            <p:nvPr/>
          </p:nvSpPr>
          <p:spPr>
            <a:xfrm>
              <a:off x="0" y="-38100"/>
              <a:ext cx="4318000" cy="1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4"/>
          <p:cNvSpPr txBox="1"/>
          <p:nvPr/>
        </p:nvSpPr>
        <p:spPr>
          <a:xfrm>
            <a:off x="8408625" y="4356688"/>
            <a:ext cx="47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💑</a:t>
            </a:r>
            <a:endParaRPr/>
          </a:p>
        </p:txBody>
      </p:sp>
      <p:sp>
        <p:nvSpPr>
          <p:cNvPr id="259" name="Google Shape;259;p4"/>
          <p:cNvSpPr txBox="1"/>
          <p:nvPr/>
        </p:nvSpPr>
        <p:spPr>
          <a:xfrm>
            <a:off x="9022328" y="4471430"/>
            <a:ext cx="28722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Parejas</a:t>
            </a:r>
            <a:endParaRPr sz="1689"/>
          </a:p>
        </p:txBody>
      </p:sp>
      <p:sp>
        <p:nvSpPr>
          <p:cNvPr id="260" name="Google Shape;260;p4"/>
          <p:cNvSpPr txBox="1"/>
          <p:nvPr/>
        </p:nvSpPr>
        <p:spPr>
          <a:xfrm>
            <a:off x="8447897" y="4896508"/>
            <a:ext cx="34467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9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 presupuesto para una cita y ganas de probar algo nuevo.</a:t>
            </a:r>
            <a:endParaRPr sz="1689"/>
          </a:p>
        </p:txBody>
      </p:sp>
      <p:grpSp>
        <p:nvGrpSpPr>
          <p:cNvPr id="261" name="Google Shape;261;p4"/>
          <p:cNvGrpSpPr/>
          <p:nvPr/>
        </p:nvGrpSpPr>
        <p:grpSpPr>
          <a:xfrm>
            <a:off x="12468910" y="4207192"/>
            <a:ext cx="3906063" cy="1872612"/>
            <a:chOff x="0" y="-38100"/>
            <a:chExt cx="4318000" cy="2070100"/>
          </a:xfrm>
        </p:grpSpPr>
        <p:sp>
          <p:nvSpPr>
            <p:cNvPr id="262" name="Google Shape;262;p4"/>
            <p:cNvSpPr/>
            <p:nvPr/>
          </p:nvSpPr>
          <p:spPr>
            <a:xfrm>
              <a:off x="0" y="0"/>
              <a:ext cx="4318000" cy="2032000"/>
            </a:xfrm>
            <a:custGeom>
              <a:rect b="b" l="l" r="r" t="t"/>
              <a:pathLst>
                <a:path extrusionOk="0" h="2032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1828800"/>
                  </a:lnTo>
                  <a:cubicBezTo>
                    <a:pt x="4318000" y="1941024"/>
                    <a:pt x="4227024" y="2032000"/>
                    <a:pt x="4114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0" y="-38100"/>
              <a:ext cx="4318000" cy="20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4"/>
          <p:cNvGrpSpPr/>
          <p:nvPr/>
        </p:nvGrpSpPr>
        <p:grpSpPr>
          <a:xfrm>
            <a:off x="12468910" y="4207192"/>
            <a:ext cx="3906063" cy="91907"/>
            <a:chOff x="0" y="-38100"/>
            <a:chExt cx="4318000" cy="101600"/>
          </a:xfrm>
        </p:grpSpPr>
        <p:sp>
          <p:nvSpPr>
            <p:cNvPr id="265" name="Google Shape;265;p4"/>
            <p:cNvSpPr/>
            <p:nvPr/>
          </p:nvSpPr>
          <p:spPr>
            <a:xfrm>
              <a:off x="0" y="0"/>
              <a:ext cx="4318000" cy="63500"/>
            </a:xfrm>
            <a:custGeom>
              <a:rect b="b" l="l" r="r" t="t"/>
              <a:pathLst>
                <a:path extrusionOk="0" h="635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63500"/>
                  </a:lnTo>
                  <a:lnTo>
                    <a:pt x="0" y="63500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50000">
                  <a:srgbClr val="00BF63"/>
                </a:gs>
                <a:gs pos="100000">
                  <a:srgbClr val="F69019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66" name="Google Shape;266;p4"/>
            <p:cNvSpPr txBox="1"/>
            <p:nvPr/>
          </p:nvSpPr>
          <p:spPr>
            <a:xfrm>
              <a:off x="0" y="-38100"/>
              <a:ext cx="4318000" cy="1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4"/>
          <p:cNvSpPr txBox="1"/>
          <p:nvPr/>
        </p:nvSpPr>
        <p:spPr>
          <a:xfrm>
            <a:off x="12698683" y="4356544"/>
            <a:ext cx="57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6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🍕</a:t>
            </a:r>
            <a:endParaRPr sz="1689"/>
          </a:p>
        </p:txBody>
      </p:sp>
      <p:sp>
        <p:nvSpPr>
          <p:cNvPr id="268" name="Google Shape;268;p4"/>
          <p:cNvSpPr txBox="1"/>
          <p:nvPr/>
        </p:nvSpPr>
        <p:spPr>
          <a:xfrm>
            <a:off x="13273113" y="4471430"/>
            <a:ext cx="28722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Antojos</a:t>
            </a:r>
            <a:endParaRPr sz="1689"/>
          </a:p>
        </p:txBody>
      </p:sp>
      <p:sp>
        <p:nvSpPr>
          <p:cNvPr id="269" name="Google Shape;269;p4"/>
          <p:cNvSpPr txBox="1"/>
          <p:nvPr/>
        </p:nvSpPr>
        <p:spPr>
          <a:xfrm>
            <a:off x="12698683" y="4896508"/>
            <a:ext cx="34467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9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Personas con un antojo específico que no saben dónde satisfacerlo.</a:t>
            </a:r>
            <a:endParaRPr sz="1689"/>
          </a:p>
        </p:txBody>
      </p:sp>
      <p:grpSp>
        <p:nvGrpSpPr>
          <p:cNvPr id="270" name="Google Shape;270;p4"/>
          <p:cNvGrpSpPr/>
          <p:nvPr/>
        </p:nvGrpSpPr>
        <p:grpSpPr>
          <a:xfrm>
            <a:off x="10343518" y="6321096"/>
            <a:ext cx="3906063" cy="1872612"/>
            <a:chOff x="0" y="-38100"/>
            <a:chExt cx="4318000" cy="2070100"/>
          </a:xfrm>
        </p:grpSpPr>
        <p:sp>
          <p:nvSpPr>
            <p:cNvPr id="271" name="Google Shape;271;p4"/>
            <p:cNvSpPr/>
            <p:nvPr/>
          </p:nvSpPr>
          <p:spPr>
            <a:xfrm>
              <a:off x="0" y="0"/>
              <a:ext cx="4318000" cy="2032000"/>
            </a:xfrm>
            <a:custGeom>
              <a:rect b="b" l="l" r="r" t="t"/>
              <a:pathLst>
                <a:path extrusionOk="0" h="2032000" w="4318000">
                  <a:moveTo>
                    <a:pt x="203200" y="0"/>
                  </a:moveTo>
                  <a:lnTo>
                    <a:pt x="4114800" y="0"/>
                  </a:lnTo>
                  <a:cubicBezTo>
                    <a:pt x="4227024" y="0"/>
                    <a:pt x="4318000" y="90976"/>
                    <a:pt x="4318000" y="203200"/>
                  </a:cubicBezTo>
                  <a:lnTo>
                    <a:pt x="4318000" y="1828800"/>
                  </a:lnTo>
                  <a:cubicBezTo>
                    <a:pt x="4318000" y="1941024"/>
                    <a:pt x="4227024" y="2032000"/>
                    <a:pt x="4114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3F8"/>
            </a:solidFill>
            <a:ln>
              <a:noFill/>
            </a:ln>
          </p:spPr>
          <p:txBody>
            <a:bodyPr anchorCtr="0" anchor="ctr" bIns="110275" lIns="110275" spcFirstLastPara="1" rIns="110275" wrap="square" tIns="11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"/>
            <p:cNvSpPr txBox="1"/>
            <p:nvPr/>
          </p:nvSpPr>
          <p:spPr>
            <a:xfrm>
              <a:off x="0" y="-38100"/>
              <a:ext cx="4318000" cy="20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4"/>
          <p:cNvGrpSpPr/>
          <p:nvPr/>
        </p:nvGrpSpPr>
        <p:grpSpPr>
          <a:xfrm>
            <a:off x="10343518" y="6321096"/>
            <a:ext cx="3906063" cy="91907"/>
            <a:chOff x="0" y="-38100"/>
            <a:chExt cx="4318000" cy="101600"/>
          </a:xfrm>
        </p:grpSpPr>
        <p:sp>
          <p:nvSpPr>
            <p:cNvPr id="274" name="Google Shape;274;p4"/>
            <p:cNvSpPr/>
            <p:nvPr/>
          </p:nvSpPr>
          <p:spPr>
            <a:xfrm>
              <a:off x="0" y="0"/>
              <a:ext cx="4318000" cy="63500"/>
            </a:xfrm>
            <a:custGeom>
              <a:rect b="b" l="l" r="r" t="t"/>
              <a:pathLst>
                <a:path extrusionOk="0" h="635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275" name="Google Shape;275;p4"/>
            <p:cNvSpPr txBox="1"/>
            <p:nvPr/>
          </p:nvSpPr>
          <p:spPr>
            <a:xfrm>
              <a:off x="0" y="-38100"/>
              <a:ext cx="4318000" cy="1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275" lIns="61275" spcFirstLastPara="1" rIns="61275" wrap="square" tIns="61275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4"/>
          <p:cNvSpPr txBox="1"/>
          <p:nvPr/>
        </p:nvSpPr>
        <p:spPr>
          <a:xfrm>
            <a:off x="10573290" y="6470448"/>
            <a:ext cx="57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6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🤷</a:t>
            </a:r>
            <a:endParaRPr sz="1689"/>
          </a:p>
        </p:txBody>
      </p:sp>
      <p:sp>
        <p:nvSpPr>
          <p:cNvPr id="277" name="Google Shape;277;p4"/>
          <p:cNvSpPr txBox="1"/>
          <p:nvPr/>
        </p:nvSpPr>
        <p:spPr>
          <a:xfrm>
            <a:off x="11147720" y="6585334"/>
            <a:ext cx="28722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1A1A2E"/>
                </a:solidFill>
                <a:latin typeface="Antonio"/>
                <a:ea typeface="Antonio"/>
                <a:cs typeface="Antonio"/>
                <a:sym typeface="Antonio"/>
              </a:rPr>
              <a:t>Indecisos</a:t>
            </a:r>
            <a:endParaRPr sz="1689"/>
          </a:p>
        </p:txBody>
      </p:sp>
      <p:sp>
        <p:nvSpPr>
          <p:cNvPr id="278" name="Google Shape;278;p4"/>
          <p:cNvSpPr txBox="1"/>
          <p:nvPr/>
        </p:nvSpPr>
        <p:spPr>
          <a:xfrm>
            <a:off x="10573290" y="7010412"/>
            <a:ext cx="34467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9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 saben qué comer y necesitan que alguien les ayude a decidir.</a:t>
            </a:r>
            <a:endParaRPr sz="1689"/>
          </a:p>
        </p:txBody>
      </p:sp>
      <p:sp>
        <p:nvSpPr>
          <p:cNvPr id="279" name="Google Shape;279;p4"/>
          <p:cNvSpPr txBox="1"/>
          <p:nvPr/>
        </p:nvSpPr>
        <p:spPr>
          <a:xfrm>
            <a:off x="762000" y="9467850"/>
            <a:ext cx="3810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Capstone — Propuesta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"/>
          <p:cNvSpPr/>
          <p:nvPr/>
        </p:nvSpPr>
        <p:spPr>
          <a:xfrm rot="-5400000">
            <a:off x="16942777" y="1345223"/>
            <a:ext cx="844062" cy="211015"/>
          </a:xfrm>
          <a:custGeom>
            <a:rect b="b" l="l" r="r" t="t"/>
            <a:pathLst>
              <a:path extrusionOk="0" h="211015" w="844062">
                <a:moveTo>
                  <a:pt x="0" y="0"/>
                </a:moveTo>
                <a:lnTo>
                  <a:pt x="844061" y="0"/>
                </a:lnTo>
                <a:lnTo>
                  <a:pt x="844061" y="211015"/>
                </a:lnTo>
                <a:lnTo>
                  <a:pt x="0" y="211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5"/>
          <p:cNvSpPr/>
          <p:nvPr/>
        </p:nvSpPr>
        <p:spPr>
          <a:xfrm rot="-5400000">
            <a:off x="501162" y="2534729"/>
            <a:ext cx="844062" cy="211015"/>
          </a:xfrm>
          <a:custGeom>
            <a:rect b="b" l="l" r="r" t="t"/>
            <a:pathLst>
              <a:path extrusionOk="0" h="211015" w="844062">
                <a:moveTo>
                  <a:pt x="0" y="0"/>
                </a:moveTo>
                <a:lnTo>
                  <a:pt x="844061" y="0"/>
                </a:lnTo>
                <a:lnTo>
                  <a:pt x="844061" y="211015"/>
                </a:lnTo>
                <a:lnTo>
                  <a:pt x="0" y="211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5"/>
          <p:cNvSpPr/>
          <p:nvPr/>
        </p:nvSpPr>
        <p:spPr>
          <a:xfrm>
            <a:off x="1548907" y="3566958"/>
            <a:ext cx="7604618" cy="2649358"/>
          </a:xfrm>
          <a:prstGeom prst="rect">
            <a:avLst/>
          </a:prstGeom>
          <a:solidFill>
            <a:srgbClr val="000000">
              <a:alpha val="1176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5"/>
          <p:cNvGrpSpPr/>
          <p:nvPr/>
        </p:nvGrpSpPr>
        <p:grpSpPr>
          <a:xfrm>
            <a:off x="9144000" y="8759825"/>
            <a:ext cx="9808812" cy="1826863"/>
            <a:chOff x="0" y="0"/>
            <a:chExt cx="2583391" cy="481149"/>
          </a:xfrm>
        </p:grpSpPr>
        <p:sp>
          <p:nvSpPr>
            <p:cNvPr id="288" name="Google Shape;288;p5"/>
            <p:cNvSpPr/>
            <p:nvPr/>
          </p:nvSpPr>
          <p:spPr>
            <a:xfrm>
              <a:off x="0" y="0"/>
              <a:ext cx="2583391" cy="481149"/>
            </a:xfrm>
            <a:custGeom>
              <a:rect b="b" l="l" r="r" t="t"/>
              <a:pathLst>
                <a:path extrusionOk="0" h="481149" w="2583391">
                  <a:moveTo>
                    <a:pt x="0" y="0"/>
                  </a:moveTo>
                  <a:lnTo>
                    <a:pt x="2583391" y="0"/>
                  </a:lnTo>
                  <a:lnTo>
                    <a:pt x="2583391" y="481149"/>
                  </a:lnTo>
                  <a:lnTo>
                    <a:pt x="0" y="481149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89" name="Google Shape;289;p5"/>
            <p:cNvSpPr txBox="1"/>
            <p:nvPr/>
          </p:nvSpPr>
          <p:spPr>
            <a:xfrm>
              <a:off x="0" y="38100"/>
              <a:ext cx="2583391" cy="443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5"/>
          <p:cNvGrpSpPr/>
          <p:nvPr/>
        </p:nvGrpSpPr>
        <p:grpSpPr>
          <a:xfrm>
            <a:off x="-512412" y="8759825"/>
            <a:ext cx="9656412" cy="1826863"/>
            <a:chOff x="0" y="0"/>
            <a:chExt cx="2543253" cy="481149"/>
          </a:xfrm>
        </p:grpSpPr>
        <p:sp>
          <p:nvSpPr>
            <p:cNvPr id="291" name="Google Shape;291;p5"/>
            <p:cNvSpPr/>
            <p:nvPr/>
          </p:nvSpPr>
          <p:spPr>
            <a:xfrm>
              <a:off x="0" y="0"/>
              <a:ext cx="2543253" cy="481149"/>
            </a:xfrm>
            <a:custGeom>
              <a:rect b="b" l="l" r="r" t="t"/>
              <a:pathLst>
                <a:path extrusionOk="0" h="481149" w="2543253">
                  <a:moveTo>
                    <a:pt x="0" y="0"/>
                  </a:moveTo>
                  <a:lnTo>
                    <a:pt x="2543253" y="0"/>
                  </a:lnTo>
                  <a:lnTo>
                    <a:pt x="2543253" y="481149"/>
                  </a:lnTo>
                  <a:lnTo>
                    <a:pt x="0" y="481149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92" name="Google Shape;292;p5"/>
            <p:cNvSpPr txBox="1"/>
            <p:nvPr/>
          </p:nvSpPr>
          <p:spPr>
            <a:xfrm>
              <a:off x="0" y="38100"/>
              <a:ext cx="2543253" cy="443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5"/>
          <p:cNvSpPr/>
          <p:nvPr/>
        </p:nvSpPr>
        <p:spPr>
          <a:xfrm>
            <a:off x="1548907" y="6515759"/>
            <a:ext cx="7604618" cy="2649358"/>
          </a:xfrm>
          <a:prstGeom prst="rect">
            <a:avLst/>
          </a:prstGeom>
          <a:solidFill>
            <a:srgbClr val="000000">
              <a:alpha val="1176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9396184" y="3566958"/>
            <a:ext cx="7604618" cy="2649358"/>
          </a:xfrm>
          <a:prstGeom prst="rect">
            <a:avLst/>
          </a:prstGeom>
          <a:solidFill>
            <a:srgbClr val="000000">
              <a:alpha val="1176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9396184" y="6515759"/>
            <a:ext cx="7604618" cy="2649358"/>
          </a:xfrm>
          <a:prstGeom prst="rect">
            <a:avLst/>
          </a:prstGeom>
          <a:solidFill>
            <a:srgbClr val="000000">
              <a:alpha val="1176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1418053" y="3445811"/>
            <a:ext cx="7604618" cy="264935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1418053" y="6394612"/>
            <a:ext cx="7604618" cy="2649358"/>
          </a:xfrm>
          <a:prstGeom prst="rect">
            <a:avLst/>
          </a:prstGeom>
          <a:solidFill>
            <a:srgbClr val="E87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9265329" y="3445811"/>
            <a:ext cx="7604618" cy="2649358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9153525" y="6394612"/>
            <a:ext cx="7604618" cy="2649358"/>
          </a:xfrm>
          <a:prstGeom prst="rect">
            <a:avLst/>
          </a:prstGeom>
          <a:solidFill>
            <a:srgbClr val="175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"/>
          <p:cNvSpPr txBox="1"/>
          <p:nvPr/>
        </p:nvSpPr>
        <p:spPr>
          <a:xfrm>
            <a:off x="2724150" y="1181100"/>
            <a:ext cx="12839700" cy="106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17594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¿Cómo funcionaría?</a:t>
            </a:r>
            <a:endParaRPr/>
          </a:p>
        </p:txBody>
      </p:sp>
      <p:sp>
        <p:nvSpPr>
          <p:cNvPr id="301" name="Google Shape;301;p5"/>
          <p:cNvSpPr txBox="1"/>
          <p:nvPr/>
        </p:nvSpPr>
        <p:spPr>
          <a:xfrm>
            <a:off x="9963150" y="3876675"/>
            <a:ext cx="62198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Recomendaciones</a:t>
            </a:r>
            <a:endParaRPr/>
          </a:p>
        </p:txBody>
      </p:sp>
      <p:sp>
        <p:nvSpPr>
          <p:cNvPr id="302" name="Google Shape;302;p5"/>
          <p:cNvSpPr txBox="1"/>
          <p:nvPr/>
        </p:nvSpPr>
        <p:spPr>
          <a:xfrm>
            <a:off x="2486025" y="4733925"/>
            <a:ext cx="5476875" cy="1071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usuario ingresa tipo de comida, presupuesto máximo, ubicación y preferencias adicionales.</a:t>
            </a:r>
            <a:endParaRPr/>
          </a:p>
        </p:txBody>
      </p:sp>
      <p:sp>
        <p:nvSpPr>
          <p:cNvPr id="303" name="Google Shape;303;p5"/>
          <p:cNvSpPr txBox="1"/>
          <p:nvPr/>
        </p:nvSpPr>
        <p:spPr>
          <a:xfrm>
            <a:off x="2114550" y="3876675"/>
            <a:ext cx="62198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Preferencias</a:t>
            </a:r>
            <a:endParaRPr/>
          </a:p>
        </p:txBody>
      </p:sp>
      <p:sp>
        <p:nvSpPr>
          <p:cNvPr id="304" name="Google Shape;304;p5"/>
          <p:cNvSpPr txBox="1"/>
          <p:nvPr/>
        </p:nvSpPr>
        <p:spPr>
          <a:xfrm>
            <a:off x="9963150" y="6819900"/>
            <a:ext cx="62198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Niveles</a:t>
            </a:r>
            <a:endParaRPr/>
          </a:p>
        </p:txBody>
      </p:sp>
      <p:sp>
        <p:nvSpPr>
          <p:cNvPr id="305" name="Google Shape;305;p5"/>
          <p:cNvSpPr txBox="1"/>
          <p:nvPr/>
        </p:nvSpPr>
        <p:spPr>
          <a:xfrm>
            <a:off x="2114550" y="6829425"/>
            <a:ext cx="62198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Comunidad</a:t>
            </a:r>
            <a:endParaRPr/>
          </a:p>
        </p:txBody>
      </p:sp>
      <p:sp>
        <p:nvSpPr>
          <p:cNvPr id="306" name="Google Shape;306;p5"/>
          <p:cNvSpPr txBox="1"/>
          <p:nvPr/>
        </p:nvSpPr>
        <p:spPr>
          <a:xfrm>
            <a:off x="10334625" y="4733925"/>
            <a:ext cx="5476875" cy="709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sistema entrega opciones compatibles y permite compararlas fácilmente.</a:t>
            </a:r>
            <a:endParaRPr/>
          </a:p>
        </p:txBody>
      </p:sp>
      <p:sp>
        <p:nvSpPr>
          <p:cNvPr id="307" name="Google Shape;307;p5"/>
          <p:cNvSpPr txBox="1"/>
          <p:nvPr/>
        </p:nvSpPr>
        <p:spPr>
          <a:xfrm>
            <a:off x="10334625" y="7686675"/>
            <a:ext cx="5476875" cy="709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puntos se traducen en niveles: Explorador, Conocedor y Experto Local.</a:t>
            </a:r>
            <a:endParaRPr/>
          </a:p>
        </p:txBody>
      </p:sp>
      <p:sp>
        <p:nvSpPr>
          <p:cNvPr id="308" name="Google Shape;308;p5"/>
          <p:cNvSpPr txBox="1"/>
          <p:nvPr/>
        </p:nvSpPr>
        <p:spPr>
          <a:xfrm>
            <a:off x="2486025" y="7696200"/>
            <a:ext cx="5476875" cy="575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usuarios registran visitas, evalúan restaurantes y obtienen puntos por su participación.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"/>
          <p:cNvSpPr/>
          <p:nvPr/>
        </p:nvSpPr>
        <p:spPr>
          <a:xfrm rot="-5400000">
            <a:off x="215412" y="1249973"/>
            <a:ext cx="844062" cy="211015"/>
          </a:xfrm>
          <a:custGeom>
            <a:rect b="b" l="l" r="r" t="t"/>
            <a:pathLst>
              <a:path extrusionOk="0" h="211015" w="844062">
                <a:moveTo>
                  <a:pt x="0" y="0"/>
                </a:moveTo>
                <a:lnTo>
                  <a:pt x="844061" y="0"/>
                </a:lnTo>
                <a:lnTo>
                  <a:pt x="844061" y="211015"/>
                </a:lnTo>
                <a:lnTo>
                  <a:pt x="0" y="211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4" name="Google Shape;314;p6"/>
          <p:cNvCxnSpPr/>
          <p:nvPr/>
        </p:nvCxnSpPr>
        <p:spPr>
          <a:xfrm>
            <a:off x="5709788" y="5143500"/>
            <a:ext cx="12578212" cy="0"/>
          </a:xfrm>
          <a:prstGeom prst="straightConnector1">
            <a:avLst/>
          </a:prstGeom>
          <a:noFill/>
          <a:ln cap="rnd" cmpd="sng" w="47625">
            <a:solidFill>
              <a:srgbClr val="8C52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6"/>
          <p:cNvCxnSpPr/>
          <p:nvPr/>
        </p:nvCxnSpPr>
        <p:spPr>
          <a:xfrm rot="-5400000">
            <a:off x="7452490" y="4882553"/>
            <a:ext cx="474268" cy="0"/>
          </a:xfrm>
          <a:prstGeom prst="straightConnector1">
            <a:avLst/>
          </a:prstGeom>
          <a:noFill/>
          <a:ln cap="rnd" cmpd="sng" w="47625">
            <a:solidFill>
              <a:srgbClr val="8C52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6"/>
          <p:cNvCxnSpPr/>
          <p:nvPr/>
        </p:nvCxnSpPr>
        <p:spPr>
          <a:xfrm rot="-5400000">
            <a:off x="11175592" y="5404447"/>
            <a:ext cx="474268" cy="0"/>
          </a:xfrm>
          <a:prstGeom prst="straightConnector1">
            <a:avLst/>
          </a:prstGeom>
          <a:noFill/>
          <a:ln cap="rnd" cmpd="sng" w="47625">
            <a:solidFill>
              <a:srgbClr val="8C52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6"/>
          <p:cNvCxnSpPr/>
          <p:nvPr/>
        </p:nvCxnSpPr>
        <p:spPr>
          <a:xfrm rot="-5400000">
            <a:off x="15374944" y="4882553"/>
            <a:ext cx="474268" cy="0"/>
          </a:xfrm>
          <a:prstGeom prst="straightConnector1">
            <a:avLst/>
          </a:prstGeom>
          <a:noFill/>
          <a:ln cap="rnd" cmpd="sng" w="47625">
            <a:solidFill>
              <a:srgbClr val="8C5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6"/>
          <p:cNvSpPr/>
          <p:nvPr/>
        </p:nvSpPr>
        <p:spPr>
          <a:xfrm>
            <a:off x="6128076" y="3720696"/>
            <a:ext cx="3170722" cy="948536"/>
          </a:xfrm>
          <a:custGeom>
            <a:rect b="b" l="l" r="r" t="t"/>
            <a:pathLst>
              <a:path extrusionOk="0" h="320863" w="1072565">
                <a:moveTo>
                  <a:pt x="0" y="0"/>
                </a:moveTo>
                <a:lnTo>
                  <a:pt x="1072565" y="0"/>
                </a:lnTo>
                <a:lnTo>
                  <a:pt x="1072565" y="320863"/>
                </a:lnTo>
                <a:lnTo>
                  <a:pt x="0" y="320863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319" name="Google Shape;319;p6"/>
          <p:cNvSpPr/>
          <p:nvPr/>
        </p:nvSpPr>
        <p:spPr>
          <a:xfrm>
            <a:off x="9827365" y="5668067"/>
            <a:ext cx="3170722" cy="948536"/>
          </a:xfrm>
          <a:custGeom>
            <a:rect b="b" l="l" r="r" t="t"/>
            <a:pathLst>
              <a:path extrusionOk="0" h="320863" w="1072565">
                <a:moveTo>
                  <a:pt x="0" y="0"/>
                </a:moveTo>
                <a:lnTo>
                  <a:pt x="1072565" y="0"/>
                </a:lnTo>
                <a:lnTo>
                  <a:pt x="1072565" y="320863"/>
                </a:lnTo>
                <a:lnTo>
                  <a:pt x="0" y="320863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320" name="Google Shape;320;p6"/>
          <p:cNvSpPr/>
          <p:nvPr/>
        </p:nvSpPr>
        <p:spPr>
          <a:xfrm>
            <a:off x="14002904" y="3720696"/>
            <a:ext cx="3170722" cy="948536"/>
          </a:xfrm>
          <a:custGeom>
            <a:rect b="b" l="l" r="r" t="t"/>
            <a:pathLst>
              <a:path extrusionOk="0" h="320863" w="1072565">
                <a:moveTo>
                  <a:pt x="0" y="0"/>
                </a:moveTo>
                <a:lnTo>
                  <a:pt x="1072565" y="0"/>
                </a:lnTo>
                <a:lnTo>
                  <a:pt x="1072565" y="320863"/>
                </a:lnTo>
                <a:lnTo>
                  <a:pt x="0" y="320863"/>
                </a:lnTo>
                <a:close/>
              </a:path>
            </a:pathLst>
          </a:custGeom>
          <a:solidFill>
            <a:srgbClr val="E8723A"/>
          </a:solidFill>
          <a:ln>
            <a:noFill/>
          </a:ln>
        </p:spPr>
      </p:sp>
      <p:sp>
        <p:nvSpPr>
          <p:cNvPr id="321" name="Google Shape;321;p6"/>
          <p:cNvSpPr txBox="1"/>
          <p:nvPr/>
        </p:nvSpPr>
        <p:spPr>
          <a:xfrm>
            <a:off x="676275" y="4781550"/>
            <a:ext cx="4352925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49" u="none" cap="none" strike="noStrike">
                <a:solidFill>
                  <a:srgbClr val="17594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PMV</a:t>
            </a:r>
            <a:endParaRPr/>
          </a:p>
        </p:txBody>
      </p:sp>
      <p:sp>
        <p:nvSpPr>
          <p:cNvPr id="322" name="Google Shape;322;p6"/>
          <p:cNvSpPr txBox="1"/>
          <p:nvPr/>
        </p:nvSpPr>
        <p:spPr>
          <a:xfrm>
            <a:off x="6562725" y="3981450"/>
            <a:ext cx="2305050" cy="507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7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Básico</a:t>
            </a:r>
            <a:endParaRPr/>
          </a:p>
        </p:txBody>
      </p:sp>
      <p:sp>
        <p:nvSpPr>
          <p:cNvPr id="323" name="Google Shape;323;p6"/>
          <p:cNvSpPr txBox="1"/>
          <p:nvPr/>
        </p:nvSpPr>
        <p:spPr>
          <a:xfrm>
            <a:off x="14439900" y="3981450"/>
            <a:ext cx="2305050" cy="507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7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Futuro</a:t>
            </a:r>
            <a:endParaRPr/>
          </a:p>
        </p:txBody>
      </p:sp>
      <p:sp>
        <p:nvSpPr>
          <p:cNvPr id="324" name="Google Shape;324;p6"/>
          <p:cNvSpPr txBox="1"/>
          <p:nvPr/>
        </p:nvSpPr>
        <p:spPr>
          <a:xfrm>
            <a:off x="10239375" y="5915025"/>
            <a:ext cx="2305050" cy="44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4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Viabilidad</a:t>
            </a:r>
            <a:endParaRPr/>
          </a:p>
        </p:txBody>
      </p:sp>
      <p:grpSp>
        <p:nvGrpSpPr>
          <p:cNvPr id="325" name="Google Shape;325;p6"/>
          <p:cNvGrpSpPr/>
          <p:nvPr/>
        </p:nvGrpSpPr>
        <p:grpSpPr>
          <a:xfrm>
            <a:off x="-398274" y="8980975"/>
            <a:ext cx="19084548" cy="1826863"/>
            <a:chOff x="0" y="0"/>
            <a:chExt cx="5026383" cy="481149"/>
          </a:xfrm>
        </p:grpSpPr>
        <p:sp>
          <p:nvSpPr>
            <p:cNvPr id="326" name="Google Shape;326;p6"/>
            <p:cNvSpPr/>
            <p:nvPr/>
          </p:nvSpPr>
          <p:spPr>
            <a:xfrm>
              <a:off x="0" y="0"/>
              <a:ext cx="5026383" cy="481149"/>
            </a:xfrm>
            <a:custGeom>
              <a:rect b="b" l="l" r="r" t="t"/>
              <a:pathLst>
                <a:path extrusionOk="0" h="481149" w="5026383">
                  <a:moveTo>
                    <a:pt x="0" y="0"/>
                  </a:moveTo>
                  <a:lnTo>
                    <a:pt x="5026383" y="0"/>
                  </a:lnTo>
                  <a:lnTo>
                    <a:pt x="5026383" y="481149"/>
                  </a:lnTo>
                  <a:lnTo>
                    <a:pt x="0" y="481149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50000">
                  <a:srgbClr val="00BF63"/>
                </a:gs>
                <a:gs pos="100000">
                  <a:srgbClr val="F69019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27" name="Google Shape;327;p6"/>
            <p:cNvSpPr txBox="1"/>
            <p:nvPr/>
          </p:nvSpPr>
          <p:spPr>
            <a:xfrm>
              <a:off x="0" y="38100"/>
              <a:ext cx="5026383" cy="443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6"/>
          <p:cNvSpPr txBox="1"/>
          <p:nvPr/>
        </p:nvSpPr>
        <p:spPr>
          <a:xfrm>
            <a:off x="13268325" y="1504950"/>
            <a:ext cx="4638675" cy="1516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6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Visitas verificadas, sistema de puntos avanzado, niveles, recompensas y recomendaciones personalizadas.</a:t>
            </a:r>
            <a:endParaRPr/>
          </a:p>
        </p:txBody>
      </p:sp>
      <p:sp>
        <p:nvSpPr>
          <p:cNvPr id="329" name="Google Shape;329;p6"/>
          <p:cNvSpPr txBox="1"/>
          <p:nvPr/>
        </p:nvSpPr>
        <p:spPr>
          <a:xfrm>
            <a:off x="5400675" y="1504950"/>
            <a:ext cx="4638675" cy="1663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Registro, inicio de sesión, selección de preferencias, presupuesto, ubicación y filtros de restaurantes.</a:t>
            </a:r>
            <a:endParaRPr/>
          </a:p>
        </p:txBody>
      </p:sp>
      <p:sp>
        <p:nvSpPr>
          <p:cNvPr id="330" name="Google Shape;330;p6"/>
          <p:cNvSpPr txBox="1"/>
          <p:nvPr/>
        </p:nvSpPr>
        <p:spPr>
          <a:xfrm>
            <a:off x="9096375" y="6867525"/>
            <a:ext cx="4638675" cy="1663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núcleo del sistema se reduce a: Preferencias + Presupuesto + Ubicación = Recomendaciones.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7"/>
          <p:cNvGrpSpPr/>
          <p:nvPr/>
        </p:nvGrpSpPr>
        <p:grpSpPr>
          <a:xfrm>
            <a:off x="9597277" y="1275704"/>
            <a:ext cx="3086100" cy="3086100"/>
            <a:chOff x="0" y="0"/>
            <a:chExt cx="812800" cy="812800"/>
          </a:xfrm>
        </p:grpSpPr>
        <p:sp>
          <p:nvSpPr>
            <p:cNvPr id="336" name="Google Shape;336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50000">
                  <a:srgbClr val="00BF63"/>
                </a:gs>
                <a:gs pos="100000">
                  <a:srgbClr val="F69019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37" name="Google Shape;337;p7"/>
            <p:cNvSpPr txBox="1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7"/>
          <p:cNvGrpSpPr/>
          <p:nvPr/>
        </p:nvGrpSpPr>
        <p:grpSpPr>
          <a:xfrm>
            <a:off x="13778752" y="0"/>
            <a:ext cx="4509248" cy="10287000"/>
            <a:chOff x="0" y="0"/>
            <a:chExt cx="1187621" cy="2709333"/>
          </a:xfrm>
        </p:grpSpPr>
        <p:sp>
          <p:nvSpPr>
            <p:cNvPr id="339" name="Google Shape;339;p7"/>
            <p:cNvSpPr/>
            <p:nvPr/>
          </p:nvSpPr>
          <p:spPr>
            <a:xfrm>
              <a:off x="0" y="0"/>
              <a:ext cx="1187621" cy="2709333"/>
            </a:xfrm>
            <a:custGeom>
              <a:rect b="b" l="l" r="r" t="t"/>
              <a:pathLst>
                <a:path extrusionOk="0" h="2709333" w="1187621">
                  <a:moveTo>
                    <a:pt x="0" y="0"/>
                  </a:moveTo>
                  <a:lnTo>
                    <a:pt x="1187621" y="0"/>
                  </a:lnTo>
                  <a:lnTo>
                    <a:pt x="1187621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50000">
                  <a:srgbClr val="00BF63"/>
                </a:gs>
                <a:gs pos="100000">
                  <a:srgbClr val="F69019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40" name="Google Shape;340;p7"/>
            <p:cNvSpPr txBox="1"/>
            <p:nvPr/>
          </p:nvSpPr>
          <p:spPr>
            <a:xfrm>
              <a:off x="0" y="38100"/>
              <a:ext cx="1187621" cy="2671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7"/>
          <p:cNvGrpSpPr/>
          <p:nvPr/>
        </p:nvGrpSpPr>
        <p:grpSpPr>
          <a:xfrm>
            <a:off x="13502527" y="0"/>
            <a:ext cx="654158" cy="10287000"/>
            <a:chOff x="0" y="0"/>
            <a:chExt cx="172288" cy="2709333"/>
          </a:xfrm>
        </p:grpSpPr>
        <p:sp>
          <p:nvSpPr>
            <p:cNvPr id="342" name="Google Shape;342;p7"/>
            <p:cNvSpPr/>
            <p:nvPr/>
          </p:nvSpPr>
          <p:spPr>
            <a:xfrm>
              <a:off x="0" y="0"/>
              <a:ext cx="172288" cy="2709333"/>
            </a:xfrm>
            <a:custGeom>
              <a:rect b="b" l="l" r="r" t="t"/>
              <a:pathLst>
                <a:path extrusionOk="0" h="2709333" w="172288">
                  <a:moveTo>
                    <a:pt x="0" y="0"/>
                  </a:moveTo>
                  <a:lnTo>
                    <a:pt x="172288" y="0"/>
                  </a:lnTo>
                  <a:lnTo>
                    <a:pt x="1722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343" name="Google Shape;343;p7"/>
            <p:cNvSpPr txBox="1"/>
            <p:nvPr/>
          </p:nvSpPr>
          <p:spPr>
            <a:xfrm>
              <a:off x="0" y="38100"/>
              <a:ext cx="172288" cy="2671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7"/>
          <p:cNvSpPr/>
          <p:nvPr/>
        </p:nvSpPr>
        <p:spPr>
          <a:xfrm>
            <a:off x="9144000" y="822379"/>
            <a:ext cx="8642242" cy="8642242"/>
          </a:xfrm>
          <a:custGeom>
            <a:rect b="b" l="l" r="r" t="t"/>
            <a:pathLst>
              <a:path extrusionOk="0" h="8642242" w="8642242">
                <a:moveTo>
                  <a:pt x="0" y="0"/>
                </a:moveTo>
                <a:lnTo>
                  <a:pt x="8642242" y="0"/>
                </a:lnTo>
                <a:lnTo>
                  <a:pt x="8642242" y="8642242"/>
                </a:lnTo>
                <a:lnTo>
                  <a:pt x="0" y="8642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7"/>
          <p:cNvSpPr/>
          <p:nvPr/>
        </p:nvSpPr>
        <p:spPr>
          <a:xfrm>
            <a:off x="9837824" y="1516202"/>
            <a:ext cx="7254595" cy="7254595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7"/>
          <p:cNvSpPr/>
          <p:nvPr/>
        </p:nvSpPr>
        <p:spPr>
          <a:xfrm rot="-5400000">
            <a:off x="187198" y="1702815"/>
            <a:ext cx="922132" cy="230533"/>
          </a:xfrm>
          <a:custGeom>
            <a:rect b="b" l="l" r="r" t="t"/>
            <a:pathLst>
              <a:path extrusionOk="0" h="230533" w="922132">
                <a:moveTo>
                  <a:pt x="0" y="0"/>
                </a:moveTo>
                <a:lnTo>
                  <a:pt x="922132" y="0"/>
                </a:lnTo>
                <a:lnTo>
                  <a:pt x="922132" y="230533"/>
                </a:lnTo>
                <a:lnTo>
                  <a:pt x="0" y="230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7"/>
          <p:cNvSpPr txBox="1"/>
          <p:nvPr/>
        </p:nvSpPr>
        <p:spPr>
          <a:xfrm>
            <a:off x="1390650" y="2276475"/>
            <a:ext cx="7762875" cy="1163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39" u="none" cap="none" strike="noStrike">
                <a:solidFill>
                  <a:srgbClr val="17594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conclusion</a:t>
            </a:r>
            <a:endParaRPr/>
          </a:p>
        </p:txBody>
      </p:sp>
      <p:sp>
        <p:nvSpPr>
          <p:cNvPr id="348" name="Google Shape;348;p7"/>
          <p:cNvSpPr txBox="1"/>
          <p:nvPr/>
        </p:nvSpPr>
        <p:spPr>
          <a:xfrm>
            <a:off x="1390650" y="5029200"/>
            <a:ext cx="7115175" cy="267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FoodMatch responde una pregunta simple: ¿Qué puedo comer, dónde lo encuentro y me alcanza? Durante las primeras semanas evaluaremos la viabilidad, definiremos el alcance del PMV y determinaremos las funcionalidades posibles en 18 semanas.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